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8000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al grupo y reemplazar los nombres entre corchetes por los de los integrantes reales (máximo tres). Mencionar que el sistema administra productos, clientes y pedidos, con interfaz gráfica y consola.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problema que resuelve el sistema: un negocio pequeño que lleva su inventario en papel o de memoria. La aplicación cumple lo pedido por el docente: menú con cinco bloques, Excel con tres hojas, cotización y respaldo por correo, pruebas unitarias y presentación.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cinco bloques tal como los pide el enunciado. Mostrar que existen dos formas de usar el sistema: ventana gráfica Tkinter y menú de consola.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formas de usar el programa, consola e interfaz, llaman a las mismas piezas: negocio.py guarda y lee el Excel (flecha doble porque lee y escribe) y correos.py crea el Word y envía el correo. Así las reglas no se repiten.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hoja del Excel es una tabla. Un cliente puede tener muchos pedidos y un producto puede aparecer en muchos pedidos. PK es la llave primaria (id) y FK la llave foránea que apunta a otra hoja. El anexo del docente pide nombre, precio y existencia para productos; nombre, NIT y dirección para clientes; y nombre del cliente, nombre del producto, cantidad y valor para pedidos. Los ids se agregaron para relacionar los registros.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Corresponde al método agregar_pedido de negocio.py. Primero valida que los datos sean números positivos y que existan el cliente y el producto. Luego compara la cantidad con la existencia. Si todo es correcto, calcula precio por cantidad, agrega la fila en la hoja pedidos, resta la existencia y guarda el Excel.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clase agrupa datos y funciones relacionadas. Inventario concentra todas las operaciones del sistema sobre el Excel. La interfaz gráfica (Aplicacion) solo muestra y pide datos; para guardar usa Inventario, y para cotizar o respaldar usa las funciones de correos.py.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SMTP es el protocolo para enviar correos mediante un servidor. Las credenciales no están en el código: se leen de variables de entorno (CORREO_SMTP_HOST, CORREO_USUARIO, CORREO_CLAVE, CORREO_COORDINADOR). El documento se llama cotización.docx y cada cotización nueva reemplaza al anterior.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Pasos tomados de la prueba manual recomendada en el README. Antes de la demo, cerrar Inventario.xlsx en Excel para que el programa pueda guardar. Si no hay servidor SMTP configurado, mostrar que los archivos se generan en local.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6FD0D6"/>
                </a:solidFill>
                <a:latin typeface="Arial" pitchFamily="34" charset="0"/>
                <a:ea typeface="Arial" pitchFamily="34" charset="-122"/>
                <a:cs typeface="Arial" pitchFamily="34" charset="-120"/>
              </a:rPr>
              <a:t>UNIVERSIDAD MARIANO GÁLVEZ </a:t>
            </a:r>
            <a:endParaRPr lang="en-US" sz="1400" dirty="0"/>
          </a:p>
        </p:txBody>
      </p:sp>
      <p:sp>
        <p:nvSpPr>
          <p:cNvPr id="3" name="Shape 1"/>
          <p:cNvSpPr/>
          <p:nvPr/>
        </p:nvSpPr>
        <p:spPr>
          <a:xfrm>
            <a:off x="812800" y="1264841"/>
            <a:ext cx="762000" cy="50800"/>
          </a:xfrm>
          <a:prstGeom prst="rect">
            <a:avLst/>
          </a:prstGeom>
          <a:solidFill>
            <a:srgbClr val="F0A060"/>
          </a:solidFill>
          <a:ln/>
        </p:spPr>
        <p:txBody>
          <a:bodyPr/>
          <a:lstStyle/>
          <a:p>
            <a:endParaRPr lang="es-GT"/>
          </a:p>
        </p:txBody>
      </p:sp>
      <p:sp>
        <p:nvSpPr>
          <p:cNvPr id="4" name="Text 2"/>
          <p:cNvSpPr>
            <a:spLocks noGrp="1"/>
          </p:cNvSpPr>
          <p:nvPr>
            <p:ph type="title"/>
          </p:nvPr>
        </p:nvSpPr>
        <p:spPr>
          <a:xfrm>
            <a:off x="812800" y="2240359"/>
            <a:ext cx="10883392" cy="17018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F4F1EA"/>
                </a:solidFill>
                <a:latin typeface="Arial" pitchFamily="34" charset="0"/>
                <a:ea typeface="Arial" pitchFamily="34" charset="-122"/>
                <a:cs typeface="Arial" pitchFamily="34" charset="-120"/>
              </a:rPr>
              <a:t>Sistema de inventario y ventas</a:t>
            </a:r>
            <a:endParaRPr lang="en-US" sz="6000" dirty="0"/>
          </a:p>
        </p:txBody>
      </p:sp>
      <p:sp>
        <p:nvSpPr>
          <p:cNvPr id="5" name="Text 3"/>
          <p:cNvSpPr/>
          <p:nvPr/>
        </p:nvSpPr>
        <p:spPr>
          <a:xfrm>
            <a:off x="1308608" y="4272409"/>
            <a:ext cx="10883392"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FD8D5"/>
                </a:solidFill>
                <a:latin typeface="Arial" pitchFamily="34" charset="0"/>
                <a:ea typeface="Arial" pitchFamily="34" charset="-122"/>
                <a:cs typeface="Arial" pitchFamily="34" charset="-120"/>
              </a:rPr>
              <a:t>Proyecto final · </a:t>
            </a:r>
            <a:r>
              <a:rPr lang="en-US" sz="2200" dirty="0" err="1">
                <a:solidFill>
                  <a:srgbClr val="BFD8D5"/>
                </a:solidFill>
                <a:latin typeface="Arial" pitchFamily="34" charset="0"/>
                <a:ea typeface="Arial" pitchFamily="34" charset="-122"/>
                <a:cs typeface="Arial" pitchFamily="34" charset="-120"/>
              </a:rPr>
              <a:t>Algoritmos</a:t>
            </a:r>
            <a:r>
              <a:rPr lang="en-US" sz="2200" dirty="0">
                <a:solidFill>
                  <a:srgbClr val="BFD8D5"/>
                </a:solidFill>
                <a:latin typeface="Arial" pitchFamily="34" charset="0"/>
                <a:ea typeface="Arial" pitchFamily="34" charset="-122"/>
                <a:cs typeface="Arial" pitchFamily="34" charset="-120"/>
              </a:rPr>
              <a:t> </a:t>
            </a:r>
            <a:endParaRPr lang="en-US" sz="2200" dirty="0"/>
          </a:p>
        </p:txBody>
      </p:sp>
      <p:sp>
        <p:nvSpPr>
          <p:cNvPr id="6" name="Text 4"/>
          <p:cNvSpPr/>
          <p:nvPr/>
        </p:nvSpPr>
        <p:spPr>
          <a:xfrm>
            <a:off x="812800" y="5435699"/>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A"/>
                </a:solidFill>
                <a:latin typeface="Arial" pitchFamily="34" charset="0"/>
                <a:ea typeface="Arial" pitchFamily="34" charset="-122"/>
                <a:cs typeface="Arial" pitchFamily="34" charset="-120"/>
              </a:rPr>
              <a:t>Integrantes: Luis Pérez · Julio Escobar · Danilo Elias</a:t>
            </a:r>
            <a:endParaRPr lang="en-US" sz="1600" dirty="0"/>
          </a:p>
        </p:txBody>
      </p:sp>
      <p:sp>
        <p:nvSpPr>
          <p:cNvPr id="7" name="Text 5"/>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8D5"/>
                </a:solidFill>
                <a:latin typeface="Arial" pitchFamily="34" charset="0"/>
                <a:ea typeface="Arial" pitchFamily="34" charset="-122"/>
                <a:cs typeface="Arial" pitchFamily="34" charset="-120"/>
              </a:rPr>
              <a:t>Docente: Ing. Marco Tulio Valdez · Entrega: 24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ctr">
              <a:lnSpc>
                <a:spcPts val="3960"/>
              </a:lnSpc>
              <a:buNone/>
            </a:pPr>
            <a:r>
              <a:rPr lang="en-US" sz="3600" b="1" i="0" dirty="0">
                <a:solidFill>
                  <a:srgbClr val="14213D"/>
                </a:solidFill>
                <a:latin typeface="Arial" pitchFamily="34" charset="0"/>
                <a:ea typeface="Arial" pitchFamily="34" charset="-122"/>
                <a:cs typeface="Arial" pitchFamily="34" charset="-120"/>
              </a:rPr>
              <a:t>Objetivo del proyecto</a:t>
            </a:r>
            <a:endParaRPr lang="en-US" sz="3600" dirty="0"/>
          </a:p>
        </p:txBody>
      </p:sp>
      <p:sp>
        <p:nvSpPr>
          <p:cNvPr id="3" name="Shape 1"/>
          <p:cNvSpPr/>
          <p:nvPr/>
        </p:nvSpPr>
        <p:spPr>
          <a:xfrm>
            <a:off x="812800" y="1728390"/>
            <a:ext cx="3373934" cy="2745581"/>
          </a:xfrm>
          <a:prstGeom prst="roundRect">
            <a:avLst>
              <a:gd name="adj" fmla="val 3469"/>
            </a:avLst>
          </a:prstGeom>
          <a:solidFill>
            <a:srgbClr val="FDFCF8"/>
          </a:solidFill>
          <a:ln w="12700">
            <a:solidFill>
              <a:srgbClr val="14213D"/>
            </a:solidFill>
            <a:prstDash val="solid"/>
          </a:ln>
        </p:spPr>
        <p:txBody>
          <a:bodyPr/>
          <a:lstStyle/>
          <a:p>
            <a:endParaRPr lang="es-GT"/>
          </a:p>
        </p:txBody>
      </p:sp>
      <p:sp>
        <p:nvSpPr>
          <p:cNvPr id="4" name="Text 2"/>
          <p:cNvSpPr/>
          <p:nvPr/>
        </p:nvSpPr>
        <p:spPr>
          <a:xfrm>
            <a:off x="1079500" y="1988741"/>
            <a:ext cx="293883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30F"/>
                </a:solidFill>
                <a:latin typeface="Arial" pitchFamily="34" charset="0"/>
                <a:ea typeface="Arial" pitchFamily="34" charset="-122"/>
                <a:cs typeface="Arial" pitchFamily="34" charset="-120"/>
              </a:rPr>
              <a:t>EL PROBLEMA</a:t>
            </a:r>
            <a:endParaRPr lang="en-US" sz="1200" dirty="0"/>
          </a:p>
        </p:txBody>
      </p:sp>
      <p:sp>
        <p:nvSpPr>
          <p:cNvPr id="5" name="Text 3"/>
          <p:cNvSpPr/>
          <p:nvPr/>
        </p:nvSpPr>
        <p:spPr>
          <a:xfrm>
            <a:off x="1079500" y="2329061"/>
            <a:ext cx="2938831"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Arial" pitchFamily="34" charset="0"/>
                <a:ea typeface="Arial" pitchFamily="34" charset="-122"/>
                <a:cs typeface="Arial" pitchFamily="34" charset="-120"/>
              </a:rPr>
              <a:t>Control manual</a:t>
            </a:r>
            <a:endParaRPr lang="en-US" sz="2200" dirty="0"/>
          </a:p>
        </p:txBody>
      </p:sp>
      <p:sp>
        <p:nvSpPr>
          <p:cNvPr id="6" name="Text 4"/>
          <p:cNvSpPr/>
          <p:nvPr/>
        </p:nvSpPr>
        <p:spPr>
          <a:xfrm>
            <a:off x="1079500" y="2791321"/>
            <a:ext cx="2938831" cy="144770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Llevar productos, clientes y ventas a mano genera errores de cálculo, registros duplicados y poca visibilidad de lo vendido.</a:t>
            </a:r>
            <a:endParaRPr lang="en-US" sz="1600" dirty="0"/>
          </a:p>
        </p:txBody>
      </p:sp>
      <p:sp>
        <p:nvSpPr>
          <p:cNvPr id="7" name="Shape 5"/>
          <p:cNvSpPr/>
          <p:nvPr/>
        </p:nvSpPr>
        <p:spPr>
          <a:xfrm>
            <a:off x="4408984" y="1728391"/>
            <a:ext cx="3374033" cy="2745581"/>
          </a:xfrm>
          <a:prstGeom prst="roundRect">
            <a:avLst>
              <a:gd name="adj" fmla="val 3469"/>
            </a:avLst>
          </a:prstGeom>
          <a:solidFill>
            <a:srgbClr val="FDFCF8"/>
          </a:solidFill>
          <a:ln w="12700">
            <a:solidFill>
              <a:srgbClr val="14213D"/>
            </a:solidFill>
            <a:prstDash val="solid"/>
          </a:ln>
        </p:spPr>
        <p:txBody>
          <a:bodyPr/>
          <a:lstStyle/>
          <a:p>
            <a:endParaRPr lang="es-GT"/>
          </a:p>
        </p:txBody>
      </p:sp>
      <p:sp>
        <p:nvSpPr>
          <p:cNvPr id="8" name="Text 6"/>
          <p:cNvSpPr/>
          <p:nvPr/>
        </p:nvSpPr>
        <p:spPr>
          <a:xfrm>
            <a:off x="4669334" y="1988741"/>
            <a:ext cx="293893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285"/>
                </a:solidFill>
                <a:latin typeface="Arial" pitchFamily="34" charset="0"/>
                <a:ea typeface="Arial" pitchFamily="34" charset="-122"/>
                <a:cs typeface="Arial" pitchFamily="34" charset="-120"/>
              </a:rPr>
              <a:t>LA SOLUCIÓN</a:t>
            </a:r>
            <a:endParaRPr lang="en-US" sz="1200" dirty="0"/>
          </a:p>
        </p:txBody>
      </p:sp>
      <p:sp>
        <p:nvSpPr>
          <p:cNvPr id="9" name="Text 7"/>
          <p:cNvSpPr/>
          <p:nvPr/>
        </p:nvSpPr>
        <p:spPr>
          <a:xfrm>
            <a:off x="4669334" y="2329061"/>
            <a:ext cx="310733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Arial" pitchFamily="34" charset="0"/>
                <a:ea typeface="Arial" pitchFamily="34" charset="-122"/>
                <a:cs typeface="Arial" pitchFamily="34" charset="-120"/>
              </a:rPr>
              <a:t>Aplicación en Python</a:t>
            </a:r>
            <a:endParaRPr lang="en-US" sz="2200" dirty="0"/>
          </a:p>
        </p:txBody>
      </p:sp>
      <p:sp>
        <p:nvSpPr>
          <p:cNvPr id="10" name="Text 8"/>
          <p:cNvSpPr/>
          <p:nvPr/>
        </p:nvSpPr>
        <p:spPr>
          <a:xfrm>
            <a:off x="4669334" y="2791321"/>
            <a:ext cx="2938933" cy="144770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Menú de consola e interfaz gráfica Tkinter. Los datos viven en Inventario.xlsx, con las hojas productos, clientes y pedidos.</a:t>
            </a:r>
            <a:endParaRPr lang="en-US" sz="1600" dirty="0"/>
          </a:p>
        </p:txBody>
      </p:sp>
      <p:sp>
        <p:nvSpPr>
          <p:cNvPr id="11" name="Shape 9"/>
          <p:cNvSpPr/>
          <p:nvPr/>
        </p:nvSpPr>
        <p:spPr>
          <a:xfrm>
            <a:off x="7998916" y="1728391"/>
            <a:ext cx="3373934" cy="2745581"/>
          </a:xfrm>
          <a:prstGeom prst="roundRect">
            <a:avLst>
              <a:gd name="adj" fmla="val 3469"/>
            </a:avLst>
          </a:prstGeom>
          <a:solidFill>
            <a:srgbClr val="FDFCF8"/>
          </a:solidFill>
          <a:ln w="12700">
            <a:solidFill>
              <a:srgbClr val="14213D"/>
            </a:solidFill>
            <a:prstDash val="solid"/>
          </a:ln>
        </p:spPr>
        <p:txBody>
          <a:bodyPr/>
          <a:lstStyle/>
          <a:p>
            <a:endParaRPr lang="es-GT"/>
          </a:p>
        </p:txBody>
      </p:sp>
      <p:sp>
        <p:nvSpPr>
          <p:cNvPr id="12" name="Text 10"/>
          <p:cNvSpPr/>
          <p:nvPr/>
        </p:nvSpPr>
        <p:spPr>
          <a:xfrm>
            <a:off x="8259266" y="1988741"/>
            <a:ext cx="293883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285"/>
                </a:solidFill>
                <a:latin typeface="Arial" pitchFamily="34" charset="0"/>
                <a:ea typeface="Arial" pitchFamily="34" charset="-122"/>
                <a:cs typeface="Arial" pitchFamily="34" charset="-120"/>
              </a:rPr>
              <a:t>LO QUE OFRECE</a:t>
            </a:r>
            <a:endParaRPr lang="en-US" sz="1200" dirty="0"/>
          </a:p>
        </p:txBody>
      </p:sp>
      <p:sp>
        <p:nvSpPr>
          <p:cNvPr id="13" name="Text 11"/>
          <p:cNvSpPr/>
          <p:nvPr/>
        </p:nvSpPr>
        <p:spPr>
          <a:xfrm>
            <a:off x="8259266" y="2329061"/>
            <a:ext cx="2938831"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Arial" pitchFamily="34" charset="0"/>
                <a:ea typeface="Arial" pitchFamily="34" charset="-122"/>
                <a:cs typeface="Arial" pitchFamily="34" charset="-120"/>
              </a:rPr>
              <a:t>Ventas al día</a:t>
            </a:r>
            <a:endParaRPr lang="en-US" sz="2200" dirty="0"/>
          </a:p>
        </p:txBody>
      </p:sp>
      <p:sp>
        <p:nvSpPr>
          <p:cNvPr id="14" name="Text 12"/>
          <p:cNvSpPr/>
          <p:nvPr/>
        </p:nvSpPr>
        <p:spPr>
          <a:xfrm>
            <a:off x="8259266" y="2791321"/>
            <a:ext cx="2938831" cy="144770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Altas, cambios y bajas, pedidos que ajustan existencias, informes de ventas, cotización por correo y copia de seguridad.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ctr">
              <a:lnSpc>
                <a:spcPts val="3960"/>
              </a:lnSpc>
              <a:buNone/>
            </a:pPr>
            <a:r>
              <a:rPr lang="en-US" sz="3600" b="1" i="0" dirty="0">
                <a:solidFill>
                  <a:srgbClr val="14213D"/>
                </a:solidFill>
                <a:latin typeface="Arial" pitchFamily="34" charset="0"/>
                <a:ea typeface="Arial" pitchFamily="34" charset="-122"/>
                <a:cs typeface="Arial" pitchFamily="34" charset="-120"/>
              </a:rPr>
              <a:t>Menú principal</a:t>
            </a:r>
            <a:endParaRPr lang="en-US" sz="3600" dirty="0"/>
          </a:p>
        </p:txBody>
      </p:sp>
      <p:sp>
        <p:nvSpPr>
          <p:cNvPr id="3" name="Shape 1"/>
          <p:cNvSpPr/>
          <p:nvPr/>
        </p:nvSpPr>
        <p:spPr>
          <a:xfrm>
            <a:off x="819150" y="1626791"/>
            <a:ext cx="1998960" cy="2445544"/>
          </a:xfrm>
          <a:prstGeom prst="roundRect">
            <a:avLst>
              <a:gd name="adj" fmla="val 4765"/>
            </a:avLst>
          </a:prstGeom>
          <a:solidFill>
            <a:srgbClr val="FDFCF8"/>
          </a:solidFill>
          <a:ln w="12700">
            <a:solidFill>
              <a:srgbClr val="14213D"/>
            </a:solidFill>
            <a:prstDash val="solid"/>
          </a:ln>
        </p:spPr>
        <p:txBody>
          <a:bodyPr/>
          <a:lstStyle/>
          <a:p>
            <a:endParaRPr lang="es-GT"/>
          </a:p>
        </p:txBody>
      </p:sp>
      <p:sp>
        <p:nvSpPr>
          <p:cNvPr id="4" name="Text 2"/>
          <p:cNvSpPr/>
          <p:nvPr/>
        </p:nvSpPr>
        <p:spPr>
          <a:xfrm>
            <a:off x="1003300" y="1810941"/>
            <a:ext cx="16814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7285"/>
                </a:solidFill>
                <a:latin typeface="Arial" pitchFamily="34" charset="0"/>
                <a:ea typeface="Arial" pitchFamily="34" charset="-122"/>
                <a:cs typeface="Arial" pitchFamily="34" charset="-120"/>
              </a:rPr>
              <a:t>01</a:t>
            </a:r>
            <a:endParaRPr lang="en-US" sz="1200" dirty="0"/>
          </a:p>
        </p:txBody>
      </p:sp>
      <p:sp>
        <p:nvSpPr>
          <p:cNvPr id="5" name="Text 3"/>
          <p:cNvSpPr/>
          <p:nvPr/>
        </p:nvSpPr>
        <p:spPr>
          <a:xfrm>
            <a:off x="1003300" y="2125861"/>
            <a:ext cx="16814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Productos</a:t>
            </a:r>
            <a:endParaRPr lang="en-US" sz="1800" dirty="0"/>
          </a:p>
        </p:txBody>
      </p:sp>
      <p:sp>
        <p:nvSpPr>
          <p:cNvPr id="6" name="Text 4"/>
          <p:cNvSpPr/>
          <p:nvPr/>
        </p:nvSpPr>
        <p:spPr>
          <a:xfrm>
            <a:off x="1101344" y="2501702"/>
            <a:ext cx="1583416" cy="1411883"/>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Agregar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Editar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Eliminar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Listar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Enviar cotización por correo</a:t>
            </a:r>
            <a:endParaRPr lang="en-US" sz="1300" dirty="0"/>
          </a:p>
        </p:txBody>
      </p:sp>
      <p:sp>
        <p:nvSpPr>
          <p:cNvPr id="7" name="Shape 5"/>
          <p:cNvSpPr/>
          <p:nvPr/>
        </p:nvSpPr>
        <p:spPr>
          <a:xfrm>
            <a:off x="2957810" y="1626791"/>
            <a:ext cx="1999059" cy="2445544"/>
          </a:xfrm>
          <a:prstGeom prst="roundRect">
            <a:avLst>
              <a:gd name="adj" fmla="val 4765"/>
            </a:avLst>
          </a:prstGeom>
          <a:solidFill>
            <a:srgbClr val="FDFCF8"/>
          </a:solidFill>
          <a:ln w="12700">
            <a:solidFill>
              <a:srgbClr val="14213D"/>
            </a:solidFill>
            <a:prstDash val="solid"/>
          </a:ln>
        </p:spPr>
        <p:txBody>
          <a:bodyPr/>
          <a:lstStyle/>
          <a:p>
            <a:endParaRPr lang="es-GT"/>
          </a:p>
        </p:txBody>
      </p:sp>
      <p:sp>
        <p:nvSpPr>
          <p:cNvPr id="8" name="Text 6"/>
          <p:cNvSpPr/>
          <p:nvPr/>
        </p:nvSpPr>
        <p:spPr>
          <a:xfrm>
            <a:off x="3141960" y="1810941"/>
            <a:ext cx="16815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7285"/>
                </a:solidFill>
                <a:latin typeface="Arial" pitchFamily="34" charset="0"/>
                <a:ea typeface="Arial" pitchFamily="34" charset="-122"/>
                <a:cs typeface="Arial" pitchFamily="34" charset="-120"/>
              </a:rPr>
              <a:t>02</a:t>
            </a:r>
            <a:endParaRPr lang="en-US" sz="1200" dirty="0"/>
          </a:p>
        </p:txBody>
      </p:sp>
      <p:sp>
        <p:nvSpPr>
          <p:cNvPr id="9" name="Text 7"/>
          <p:cNvSpPr/>
          <p:nvPr/>
        </p:nvSpPr>
        <p:spPr>
          <a:xfrm>
            <a:off x="3141960" y="2125861"/>
            <a:ext cx="168155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Clientes</a:t>
            </a:r>
            <a:endParaRPr lang="en-US" sz="1800" dirty="0"/>
          </a:p>
        </p:txBody>
      </p:sp>
      <p:sp>
        <p:nvSpPr>
          <p:cNvPr id="10" name="Text 8"/>
          <p:cNvSpPr/>
          <p:nvPr/>
        </p:nvSpPr>
        <p:spPr>
          <a:xfrm>
            <a:off x="3240004" y="2501702"/>
            <a:ext cx="1583515" cy="949722"/>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Agregar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Editar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Eliminar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Listar</a:t>
            </a:r>
            <a:endParaRPr lang="en-US" sz="1300" dirty="0"/>
          </a:p>
        </p:txBody>
      </p:sp>
      <p:sp>
        <p:nvSpPr>
          <p:cNvPr id="11" name="Shape 9"/>
          <p:cNvSpPr/>
          <p:nvPr/>
        </p:nvSpPr>
        <p:spPr>
          <a:xfrm>
            <a:off x="5096570" y="1626791"/>
            <a:ext cx="1998960" cy="2445544"/>
          </a:xfrm>
          <a:prstGeom prst="roundRect">
            <a:avLst>
              <a:gd name="adj" fmla="val 4765"/>
            </a:avLst>
          </a:prstGeom>
          <a:solidFill>
            <a:srgbClr val="FDFCF8"/>
          </a:solidFill>
          <a:ln w="12700">
            <a:solidFill>
              <a:srgbClr val="14213D"/>
            </a:solidFill>
            <a:prstDash val="solid"/>
          </a:ln>
        </p:spPr>
        <p:txBody>
          <a:bodyPr/>
          <a:lstStyle/>
          <a:p>
            <a:endParaRPr lang="es-GT"/>
          </a:p>
        </p:txBody>
      </p:sp>
      <p:sp>
        <p:nvSpPr>
          <p:cNvPr id="12" name="Text 10"/>
          <p:cNvSpPr/>
          <p:nvPr/>
        </p:nvSpPr>
        <p:spPr>
          <a:xfrm>
            <a:off x="5280720" y="1810941"/>
            <a:ext cx="16814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7285"/>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5280720" y="2125861"/>
            <a:ext cx="16814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Pedidos</a:t>
            </a:r>
            <a:endParaRPr lang="en-US" sz="1800" dirty="0"/>
          </a:p>
        </p:txBody>
      </p:sp>
      <p:sp>
        <p:nvSpPr>
          <p:cNvPr id="14" name="Text 12"/>
          <p:cNvSpPr/>
          <p:nvPr/>
        </p:nvSpPr>
        <p:spPr>
          <a:xfrm>
            <a:off x="5378764" y="2501702"/>
            <a:ext cx="1583416" cy="718641"/>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Agregar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Eliminar</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Listar</a:t>
            </a:r>
            <a:endParaRPr lang="en-US" sz="1300" dirty="0"/>
          </a:p>
        </p:txBody>
      </p:sp>
      <p:sp>
        <p:nvSpPr>
          <p:cNvPr id="15" name="Shape 13"/>
          <p:cNvSpPr/>
          <p:nvPr/>
        </p:nvSpPr>
        <p:spPr>
          <a:xfrm>
            <a:off x="7235230" y="1626791"/>
            <a:ext cx="1998960" cy="2445544"/>
          </a:xfrm>
          <a:prstGeom prst="roundRect">
            <a:avLst>
              <a:gd name="adj" fmla="val 4765"/>
            </a:avLst>
          </a:prstGeom>
          <a:solidFill>
            <a:srgbClr val="FDFCF8"/>
          </a:solidFill>
          <a:ln w="12700">
            <a:solidFill>
              <a:srgbClr val="14213D"/>
            </a:solidFill>
            <a:prstDash val="solid"/>
          </a:ln>
        </p:spPr>
        <p:txBody>
          <a:bodyPr/>
          <a:lstStyle/>
          <a:p>
            <a:endParaRPr lang="es-GT"/>
          </a:p>
        </p:txBody>
      </p:sp>
      <p:sp>
        <p:nvSpPr>
          <p:cNvPr id="16" name="Text 14"/>
          <p:cNvSpPr/>
          <p:nvPr/>
        </p:nvSpPr>
        <p:spPr>
          <a:xfrm>
            <a:off x="7419380" y="1810941"/>
            <a:ext cx="16814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7285"/>
                </a:solidFill>
                <a:latin typeface="Arial" pitchFamily="34" charset="0"/>
                <a:ea typeface="Arial" pitchFamily="34" charset="-122"/>
                <a:cs typeface="Arial" pitchFamily="34" charset="-120"/>
              </a:rPr>
              <a:t>04</a:t>
            </a:r>
            <a:endParaRPr lang="en-US" sz="1200" dirty="0"/>
          </a:p>
        </p:txBody>
      </p:sp>
      <p:sp>
        <p:nvSpPr>
          <p:cNvPr id="17" name="Text 15"/>
          <p:cNvSpPr/>
          <p:nvPr/>
        </p:nvSpPr>
        <p:spPr>
          <a:xfrm>
            <a:off x="7419380" y="2125861"/>
            <a:ext cx="16814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Informes</a:t>
            </a:r>
            <a:endParaRPr lang="en-US" sz="1800" dirty="0"/>
          </a:p>
        </p:txBody>
      </p:sp>
      <p:sp>
        <p:nvSpPr>
          <p:cNvPr id="18" name="Text 16"/>
          <p:cNvSpPr/>
          <p:nvPr/>
        </p:nvSpPr>
        <p:spPr>
          <a:xfrm>
            <a:off x="7517424" y="2501702"/>
            <a:ext cx="1583416" cy="949722"/>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Total de venta por cliente</a:t>
            </a:r>
            <a:endParaRPr lang="en-US" sz="1300" dirty="0"/>
          </a:p>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Total de ventas por producto</a:t>
            </a:r>
            <a:endParaRPr lang="en-US" sz="1300" dirty="0"/>
          </a:p>
        </p:txBody>
      </p:sp>
      <p:sp>
        <p:nvSpPr>
          <p:cNvPr id="19" name="Shape 17"/>
          <p:cNvSpPr/>
          <p:nvPr/>
        </p:nvSpPr>
        <p:spPr>
          <a:xfrm>
            <a:off x="9373890" y="1626791"/>
            <a:ext cx="1998960" cy="2445544"/>
          </a:xfrm>
          <a:prstGeom prst="roundRect">
            <a:avLst>
              <a:gd name="adj" fmla="val 4765"/>
            </a:avLst>
          </a:prstGeom>
          <a:solidFill>
            <a:srgbClr val="FDFCF8"/>
          </a:solidFill>
          <a:ln w="12700">
            <a:solidFill>
              <a:srgbClr val="14213D"/>
            </a:solidFill>
            <a:prstDash val="solid"/>
          </a:ln>
        </p:spPr>
        <p:txBody>
          <a:bodyPr/>
          <a:lstStyle/>
          <a:p>
            <a:endParaRPr lang="es-GT"/>
          </a:p>
        </p:txBody>
      </p:sp>
      <p:sp>
        <p:nvSpPr>
          <p:cNvPr id="20" name="Text 18"/>
          <p:cNvSpPr/>
          <p:nvPr/>
        </p:nvSpPr>
        <p:spPr>
          <a:xfrm>
            <a:off x="9558040" y="1810941"/>
            <a:ext cx="16814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7285"/>
                </a:solidFill>
                <a:latin typeface="Arial" pitchFamily="34" charset="0"/>
                <a:ea typeface="Arial" pitchFamily="34" charset="-122"/>
                <a:cs typeface="Arial" pitchFamily="34" charset="-120"/>
              </a:rPr>
              <a:t>05</a:t>
            </a:r>
            <a:endParaRPr lang="en-US" sz="1200" dirty="0"/>
          </a:p>
        </p:txBody>
      </p:sp>
      <p:sp>
        <p:nvSpPr>
          <p:cNvPr id="21" name="Text 19"/>
          <p:cNvSpPr/>
          <p:nvPr/>
        </p:nvSpPr>
        <p:spPr>
          <a:xfrm>
            <a:off x="9558040" y="2125861"/>
            <a:ext cx="168146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Varios</a:t>
            </a:r>
            <a:endParaRPr lang="en-US" sz="1800" dirty="0"/>
          </a:p>
        </p:txBody>
      </p:sp>
      <p:sp>
        <p:nvSpPr>
          <p:cNvPr id="22" name="Text 20"/>
          <p:cNvSpPr/>
          <p:nvPr/>
        </p:nvSpPr>
        <p:spPr>
          <a:xfrm>
            <a:off x="9656084" y="2501702"/>
            <a:ext cx="1583416" cy="949722"/>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4A5568"/>
                </a:solidFill>
                <a:latin typeface="Arial" pitchFamily="34" charset="0"/>
                <a:ea typeface="Arial" pitchFamily="34" charset="-122"/>
                <a:cs typeface="Arial" pitchFamily="34" charset="-120"/>
              </a:rPr>
              <a:t>Crear copia de seguridad y enviarla al coordinador</a:t>
            </a:r>
            <a:endParaRPr lang="en-US" sz="1300" dirty="0"/>
          </a:p>
        </p:txBody>
      </p:sp>
      <p:sp>
        <p:nvSpPr>
          <p:cNvPr id="23" name="Text 21"/>
          <p:cNvSpPr/>
          <p:nvPr/>
        </p:nvSpPr>
        <p:spPr>
          <a:xfrm>
            <a:off x="812800" y="4383484"/>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Arial" pitchFamily="34" charset="0"/>
                <a:ea typeface="Arial" pitchFamily="34" charset="-122"/>
                <a:cs typeface="Arial" pitchFamily="34" charset="-120"/>
              </a:rPr>
              <a:t>Las mismas opciones están en la interfaz gráfica y en la consola (</a:t>
            </a:r>
            <a:r>
              <a:rPr lang="en-US" sz="1600" dirty="0">
                <a:solidFill>
                  <a:srgbClr val="14213D"/>
                </a:solidFill>
                <a:latin typeface="Arial" pitchFamily="34" charset="0"/>
                <a:ea typeface="Arial" pitchFamily="34" charset="-122"/>
                <a:cs typeface="Arial" pitchFamily="34" charset="-120"/>
              </a:rPr>
              <a:t>py main.py --consola</a:t>
            </a:r>
            <a:r>
              <a:rPr lang="en-US" sz="1600" dirty="0">
                <a:solidFill>
                  <a:srgbClr val="4A5568"/>
                </a:solidFill>
                <a:latin typeface="Arial" pitchFamily="34" charset="0"/>
                <a:ea typeface="Arial" pitchFamily="34" charset="-122"/>
                <a:cs typeface="Arial" pitchFamily="34" charset="-120"/>
              </a:rPr>
              <a: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ial" pitchFamily="34" charset="0"/>
                <a:ea typeface="Arial" pitchFamily="34" charset="-122"/>
                <a:cs typeface="Arial" pitchFamily="34" charset="-120"/>
              </a:rPr>
              <a:t>Diagrama de arquitectura</a:t>
            </a:r>
            <a:endParaRPr lang="en-US" sz="3600" dirty="0"/>
          </a:p>
        </p:txBody>
      </p:sp>
      <p:sp>
        <p:nvSpPr>
          <p:cNvPr id="3" name="Text 1"/>
          <p:cNvSpPr/>
          <p:nvPr/>
        </p:nvSpPr>
        <p:spPr>
          <a:xfrm>
            <a:off x="4508500" y="1524000"/>
            <a:ext cx="3175000" cy="508000"/>
          </a:xfrm>
          <a:prstGeom prst="roundRect">
            <a:avLst>
              <a:gd name="adj" fmla="val 20000"/>
            </a:avLst>
          </a:prstGeom>
          <a:solidFill>
            <a:srgbClr val="14213D"/>
          </a:solidFill>
          <a:ln/>
        </p:spPr>
        <p:txBody>
          <a:bodyPr wrap="square" lIns="0" tIns="0" rIns="0" bIns="0" rtlCol="0" anchor="ctr">
            <a:normAutofit/>
          </a:bodyPr>
          <a:lstStyle/>
          <a:p>
            <a:pPr marL="0" indent="0" algn="ctr">
              <a:lnSpc>
                <a:spcPts val="2240"/>
              </a:lnSpc>
              <a:buNone/>
            </a:pPr>
            <a:r>
              <a:rPr lang="en-US" sz="1600" b="1" dirty="0">
                <a:solidFill>
                  <a:srgbClr val="F4F1EA"/>
                </a:solidFill>
                <a:latin typeface="Arial" pitchFamily="34" charset="0"/>
                <a:ea typeface="Arial" pitchFamily="34" charset="-122"/>
                <a:cs typeface="Arial" pitchFamily="34" charset="-120"/>
              </a:rPr>
              <a:t>Usuario</a:t>
            </a:r>
            <a:endParaRPr lang="en-US" sz="1600" dirty="0"/>
          </a:p>
        </p:txBody>
      </p:sp>
      <p:sp>
        <p:nvSpPr>
          <p:cNvPr id="4" name="Shape 2"/>
          <p:cNvSpPr/>
          <p:nvPr/>
        </p:nvSpPr>
        <p:spPr>
          <a:xfrm>
            <a:off x="819150" y="2546350"/>
            <a:ext cx="4813300" cy="749300"/>
          </a:xfrm>
          <a:prstGeom prst="roundRect">
            <a:avLst>
              <a:gd name="adj" fmla="val 12712"/>
            </a:avLst>
          </a:prstGeom>
          <a:solidFill>
            <a:srgbClr val="FDFCF8"/>
          </a:solidFill>
          <a:ln w="12700">
            <a:solidFill>
              <a:srgbClr val="14213D"/>
            </a:solidFill>
            <a:prstDash val="solid"/>
          </a:ln>
        </p:spPr>
        <p:txBody>
          <a:bodyPr/>
          <a:lstStyle/>
          <a:p>
            <a:endParaRPr lang="es-GT"/>
          </a:p>
        </p:txBody>
      </p:sp>
      <p:sp>
        <p:nvSpPr>
          <p:cNvPr id="5" name="Text 3"/>
          <p:cNvSpPr/>
          <p:nvPr/>
        </p:nvSpPr>
        <p:spPr>
          <a:xfrm>
            <a:off x="2175788" y="2672060"/>
            <a:ext cx="2100024"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213D"/>
                </a:solidFill>
                <a:latin typeface="Arial" pitchFamily="34" charset="0"/>
                <a:ea typeface="Arial" pitchFamily="34" charset="-122"/>
                <a:cs typeface="Arial" pitchFamily="34" charset="-120"/>
              </a:rPr>
              <a:t>Consola · main.py</a:t>
            </a:r>
            <a:endParaRPr lang="en-US" sz="1600" dirty="0"/>
          </a:p>
        </p:txBody>
      </p:sp>
      <p:sp>
        <p:nvSpPr>
          <p:cNvPr id="6" name="Text 4"/>
          <p:cNvSpPr/>
          <p:nvPr/>
        </p:nvSpPr>
        <p:spPr>
          <a:xfrm>
            <a:off x="1746568" y="2956520"/>
            <a:ext cx="295846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Menú de texto con los cinco bloques</a:t>
            </a:r>
            <a:endParaRPr lang="en-US" sz="1200" dirty="0"/>
          </a:p>
        </p:txBody>
      </p:sp>
      <p:sp>
        <p:nvSpPr>
          <p:cNvPr id="7" name="Shape 5"/>
          <p:cNvSpPr/>
          <p:nvPr/>
        </p:nvSpPr>
        <p:spPr>
          <a:xfrm>
            <a:off x="6559550" y="2546350"/>
            <a:ext cx="4813300" cy="749300"/>
          </a:xfrm>
          <a:prstGeom prst="roundRect">
            <a:avLst>
              <a:gd name="adj" fmla="val 12712"/>
            </a:avLst>
          </a:prstGeom>
          <a:solidFill>
            <a:srgbClr val="FDFCF8"/>
          </a:solidFill>
          <a:ln w="12700">
            <a:solidFill>
              <a:srgbClr val="14213D"/>
            </a:solidFill>
            <a:prstDash val="solid"/>
          </a:ln>
        </p:spPr>
        <p:txBody>
          <a:bodyPr/>
          <a:lstStyle/>
          <a:p>
            <a:endParaRPr lang="es-GT"/>
          </a:p>
        </p:txBody>
      </p:sp>
      <p:sp>
        <p:nvSpPr>
          <p:cNvPr id="8" name="Text 6"/>
          <p:cNvSpPr/>
          <p:nvPr/>
        </p:nvSpPr>
        <p:spPr>
          <a:xfrm>
            <a:off x="7814518" y="2672060"/>
            <a:ext cx="2303264"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213D"/>
                </a:solidFill>
                <a:latin typeface="Arial" pitchFamily="34" charset="0"/>
                <a:ea typeface="Arial" pitchFamily="34" charset="-122"/>
                <a:cs typeface="Arial" pitchFamily="34" charset="-120"/>
              </a:rPr>
              <a:t>Interfaz · interfaz.py</a:t>
            </a:r>
            <a:endParaRPr lang="en-US" sz="1600" dirty="0"/>
          </a:p>
        </p:txBody>
      </p:sp>
      <p:sp>
        <p:nvSpPr>
          <p:cNvPr id="9" name="Text 7"/>
          <p:cNvSpPr/>
          <p:nvPr/>
        </p:nvSpPr>
        <p:spPr>
          <a:xfrm>
            <a:off x="7336353" y="2956520"/>
            <a:ext cx="325969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Ventana Tkinter con tablas y formularios</a:t>
            </a:r>
            <a:endParaRPr lang="en-US" sz="1200" dirty="0"/>
          </a:p>
        </p:txBody>
      </p:sp>
      <p:sp>
        <p:nvSpPr>
          <p:cNvPr id="10" name="Shape 8"/>
          <p:cNvSpPr/>
          <p:nvPr/>
        </p:nvSpPr>
        <p:spPr>
          <a:xfrm>
            <a:off x="819150" y="3816350"/>
            <a:ext cx="4813300" cy="749300"/>
          </a:xfrm>
          <a:prstGeom prst="roundRect">
            <a:avLst>
              <a:gd name="adj" fmla="val 12712"/>
            </a:avLst>
          </a:prstGeom>
          <a:solidFill>
            <a:srgbClr val="FDFCF8"/>
          </a:solidFill>
          <a:ln w="12700">
            <a:solidFill>
              <a:srgbClr val="14213D"/>
            </a:solidFill>
            <a:prstDash val="solid"/>
          </a:ln>
        </p:spPr>
        <p:txBody>
          <a:bodyPr/>
          <a:lstStyle/>
          <a:p>
            <a:endParaRPr lang="es-GT"/>
          </a:p>
        </p:txBody>
      </p:sp>
      <p:sp>
        <p:nvSpPr>
          <p:cNvPr id="11" name="Text 9"/>
          <p:cNvSpPr/>
          <p:nvPr/>
        </p:nvSpPr>
        <p:spPr>
          <a:xfrm>
            <a:off x="2081014" y="3942060"/>
            <a:ext cx="2289572"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213D"/>
                </a:solidFill>
                <a:latin typeface="Arial" pitchFamily="34" charset="0"/>
                <a:ea typeface="Arial" pitchFamily="34" charset="-122"/>
                <a:cs typeface="Arial" pitchFamily="34" charset="-120"/>
              </a:rPr>
              <a:t>Lógica · negocio.py</a:t>
            </a:r>
            <a:endParaRPr lang="en-US" sz="1600" dirty="0"/>
          </a:p>
        </p:txBody>
      </p:sp>
      <p:sp>
        <p:nvSpPr>
          <p:cNvPr id="12" name="Text 10"/>
          <p:cNvSpPr/>
          <p:nvPr/>
        </p:nvSpPr>
        <p:spPr>
          <a:xfrm>
            <a:off x="1441768" y="4226520"/>
            <a:ext cx="356806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Clase Inventario: reglas, pedidos e informes</a:t>
            </a:r>
            <a:endParaRPr lang="en-US" sz="1200" dirty="0"/>
          </a:p>
        </p:txBody>
      </p:sp>
      <p:sp>
        <p:nvSpPr>
          <p:cNvPr id="13" name="Shape 11"/>
          <p:cNvSpPr/>
          <p:nvPr/>
        </p:nvSpPr>
        <p:spPr>
          <a:xfrm>
            <a:off x="6559550" y="3816350"/>
            <a:ext cx="4813300" cy="749300"/>
          </a:xfrm>
          <a:prstGeom prst="roundRect">
            <a:avLst>
              <a:gd name="adj" fmla="val 12712"/>
            </a:avLst>
          </a:prstGeom>
          <a:solidFill>
            <a:srgbClr val="FDFCF8"/>
          </a:solidFill>
          <a:ln w="12700">
            <a:solidFill>
              <a:srgbClr val="14213D"/>
            </a:solidFill>
            <a:prstDash val="solid"/>
          </a:ln>
        </p:spPr>
        <p:txBody>
          <a:bodyPr/>
          <a:lstStyle/>
          <a:p>
            <a:endParaRPr lang="es-GT"/>
          </a:p>
        </p:txBody>
      </p:sp>
      <p:sp>
        <p:nvSpPr>
          <p:cNvPr id="14" name="Text 12"/>
          <p:cNvSpPr/>
          <p:nvPr/>
        </p:nvSpPr>
        <p:spPr>
          <a:xfrm>
            <a:off x="7834749" y="3942060"/>
            <a:ext cx="2262902"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213D"/>
                </a:solidFill>
                <a:latin typeface="Arial" pitchFamily="34" charset="0"/>
                <a:ea typeface="Arial" pitchFamily="34" charset="-122"/>
                <a:cs typeface="Arial" pitchFamily="34" charset="-120"/>
              </a:rPr>
              <a:t>Correo · correos.py</a:t>
            </a:r>
            <a:endParaRPr lang="en-US" sz="1600" dirty="0"/>
          </a:p>
        </p:txBody>
      </p:sp>
      <p:sp>
        <p:nvSpPr>
          <p:cNvPr id="15" name="Text 13"/>
          <p:cNvSpPr/>
          <p:nvPr/>
        </p:nvSpPr>
        <p:spPr>
          <a:xfrm>
            <a:off x="7499122" y="4226520"/>
            <a:ext cx="293405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Documento Word y envío por SMTP</a:t>
            </a:r>
            <a:endParaRPr lang="en-US" sz="1200" dirty="0"/>
          </a:p>
        </p:txBody>
      </p:sp>
      <p:sp>
        <p:nvSpPr>
          <p:cNvPr id="16" name="Shape 14"/>
          <p:cNvSpPr/>
          <p:nvPr/>
        </p:nvSpPr>
        <p:spPr>
          <a:xfrm>
            <a:off x="819150" y="5022850"/>
            <a:ext cx="4813300" cy="685800"/>
          </a:xfrm>
          <a:prstGeom prst="roundRect">
            <a:avLst>
              <a:gd name="adj" fmla="val 13889"/>
            </a:avLst>
          </a:prstGeom>
          <a:solidFill>
            <a:srgbClr val="D5EBEE"/>
          </a:solidFill>
          <a:ln w="12700">
            <a:solidFill>
              <a:srgbClr val="0B7285"/>
            </a:solidFill>
            <a:prstDash val="solid"/>
          </a:ln>
        </p:spPr>
        <p:txBody>
          <a:bodyPr/>
          <a:lstStyle/>
          <a:p>
            <a:endParaRPr lang="es-GT"/>
          </a:p>
        </p:txBody>
      </p:sp>
      <p:sp>
        <p:nvSpPr>
          <p:cNvPr id="17" name="Text 15"/>
          <p:cNvSpPr/>
          <p:nvPr/>
        </p:nvSpPr>
        <p:spPr>
          <a:xfrm>
            <a:off x="2372003" y="5116810"/>
            <a:ext cx="1707594"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213D"/>
                </a:solidFill>
                <a:latin typeface="Arial" pitchFamily="34" charset="0"/>
                <a:ea typeface="Arial" pitchFamily="34" charset="-122"/>
                <a:cs typeface="Arial" pitchFamily="34" charset="-120"/>
              </a:rPr>
              <a:t>Inventario.xlsx</a:t>
            </a:r>
            <a:endParaRPr lang="en-US" sz="1600" dirty="0"/>
          </a:p>
        </p:txBody>
      </p:sp>
      <p:sp>
        <p:nvSpPr>
          <p:cNvPr id="18" name="Text 16"/>
          <p:cNvSpPr/>
          <p:nvPr/>
        </p:nvSpPr>
        <p:spPr>
          <a:xfrm>
            <a:off x="1807647" y="5401270"/>
            <a:ext cx="283630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Hojas: productos, clientes, pedidos</a:t>
            </a:r>
            <a:endParaRPr lang="en-US" sz="1200" dirty="0"/>
          </a:p>
        </p:txBody>
      </p:sp>
      <p:sp>
        <p:nvSpPr>
          <p:cNvPr id="19" name="Shape 17"/>
          <p:cNvSpPr/>
          <p:nvPr/>
        </p:nvSpPr>
        <p:spPr>
          <a:xfrm>
            <a:off x="6559550" y="5022850"/>
            <a:ext cx="4813300" cy="685800"/>
          </a:xfrm>
          <a:prstGeom prst="roundRect">
            <a:avLst>
              <a:gd name="adj" fmla="val 13889"/>
            </a:avLst>
          </a:prstGeom>
          <a:solidFill>
            <a:srgbClr val="D5EBEE"/>
          </a:solidFill>
          <a:ln w="12700">
            <a:solidFill>
              <a:srgbClr val="0B7285"/>
            </a:solidFill>
            <a:prstDash val="solid"/>
          </a:ln>
        </p:spPr>
        <p:txBody>
          <a:bodyPr/>
          <a:lstStyle/>
          <a:p>
            <a:endParaRPr lang="es-GT"/>
          </a:p>
        </p:txBody>
      </p:sp>
      <p:sp>
        <p:nvSpPr>
          <p:cNvPr id="20" name="Text 18"/>
          <p:cNvSpPr/>
          <p:nvPr/>
        </p:nvSpPr>
        <p:spPr>
          <a:xfrm>
            <a:off x="7089547" y="5116810"/>
            <a:ext cx="375320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4213D"/>
                </a:solidFill>
                <a:latin typeface="Arial" pitchFamily="34" charset="0"/>
                <a:ea typeface="Arial" pitchFamily="34" charset="-122"/>
                <a:cs typeface="Arial" pitchFamily="34" charset="-120"/>
              </a:rPr>
              <a:t>cotización.docx · servidor SMTP</a:t>
            </a:r>
            <a:endParaRPr lang="en-US" sz="1600" dirty="0"/>
          </a:p>
        </p:txBody>
      </p:sp>
      <p:sp>
        <p:nvSpPr>
          <p:cNvPr id="21" name="Text 19"/>
          <p:cNvSpPr/>
          <p:nvPr/>
        </p:nvSpPr>
        <p:spPr>
          <a:xfrm>
            <a:off x="7634377" y="5401270"/>
            <a:ext cx="266354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Arial" pitchFamily="34" charset="0"/>
                <a:ea typeface="Arial" pitchFamily="34" charset="-122"/>
                <a:cs typeface="Arial" pitchFamily="34" charset="-120"/>
              </a:rPr>
              <a:t>Archivo adjunto y correo enviado</a:t>
            </a:r>
            <a:endParaRPr lang="en-US" sz="1200" dirty="0"/>
          </a:p>
        </p:txBody>
      </p:sp>
      <p:pic>
        <p:nvPicPr>
          <p:cNvPr id="22" name="Image 0" descr="connector"/>
          <p:cNvPicPr>
            <a:picLocks noChangeAspect="1"/>
          </p:cNvPicPr>
          <p:nvPr/>
        </p:nvPicPr>
        <p:blipFill>
          <a:blip r:embed="rId3"/>
          <a:srcRect/>
          <a:stretch/>
        </p:blipFill>
        <p:spPr>
          <a:xfrm>
            <a:off x="3175000" y="1981200"/>
            <a:ext cx="2971800" cy="609600"/>
          </a:xfrm>
          <a:prstGeom prst="rect">
            <a:avLst/>
          </a:prstGeom>
        </p:spPr>
      </p:pic>
      <p:pic>
        <p:nvPicPr>
          <p:cNvPr id="23" name="Image 1" descr="connector"/>
          <p:cNvPicPr>
            <a:picLocks noChangeAspect="1"/>
          </p:cNvPicPr>
          <p:nvPr/>
        </p:nvPicPr>
        <p:blipFill>
          <a:blip r:embed="rId4"/>
          <a:srcRect/>
          <a:stretch/>
        </p:blipFill>
        <p:spPr>
          <a:xfrm>
            <a:off x="6045200" y="1981200"/>
            <a:ext cx="2971800" cy="609600"/>
          </a:xfrm>
          <a:prstGeom prst="rect">
            <a:avLst/>
          </a:prstGeom>
        </p:spPr>
      </p:pic>
      <p:pic>
        <p:nvPicPr>
          <p:cNvPr id="24" name="Image 2" descr="connector"/>
          <p:cNvPicPr>
            <a:picLocks noChangeAspect="1"/>
          </p:cNvPicPr>
          <p:nvPr/>
        </p:nvPicPr>
        <p:blipFill>
          <a:blip r:embed="rId5"/>
          <a:srcRect/>
          <a:stretch/>
        </p:blipFill>
        <p:spPr>
          <a:xfrm>
            <a:off x="3175000" y="3251200"/>
            <a:ext cx="101600" cy="609600"/>
          </a:xfrm>
          <a:prstGeom prst="rect">
            <a:avLst/>
          </a:prstGeom>
        </p:spPr>
      </p:pic>
      <p:pic>
        <p:nvPicPr>
          <p:cNvPr id="25" name="Image 3" descr="connector"/>
          <p:cNvPicPr>
            <a:picLocks noChangeAspect="1"/>
          </p:cNvPicPr>
          <p:nvPr/>
        </p:nvPicPr>
        <p:blipFill>
          <a:blip r:embed="rId5"/>
          <a:srcRect/>
          <a:stretch/>
        </p:blipFill>
        <p:spPr>
          <a:xfrm>
            <a:off x="8915400" y="3251200"/>
            <a:ext cx="101600" cy="609600"/>
          </a:xfrm>
          <a:prstGeom prst="rect">
            <a:avLst/>
          </a:prstGeom>
        </p:spPr>
      </p:pic>
      <p:pic>
        <p:nvPicPr>
          <p:cNvPr id="26" name="Image 4" descr="connector"/>
          <p:cNvPicPr>
            <a:picLocks noChangeAspect="1"/>
          </p:cNvPicPr>
          <p:nvPr/>
        </p:nvPicPr>
        <p:blipFill>
          <a:blip r:embed="rId6"/>
          <a:srcRect/>
          <a:stretch/>
        </p:blipFill>
        <p:spPr>
          <a:xfrm>
            <a:off x="4775200" y="3251200"/>
            <a:ext cx="2260600" cy="609600"/>
          </a:xfrm>
          <a:prstGeom prst="rect">
            <a:avLst/>
          </a:prstGeom>
        </p:spPr>
      </p:pic>
      <p:pic>
        <p:nvPicPr>
          <p:cNvPr id="27" name="Image 5" descr="connector"/>
          <p:cNvPicPr>
            <a:picLocks noChangeAspect="1"/>
          </p:cNvPicPr>
          <p:nvPr/>
        </p:nvPicPr>
        <p:blipFill>
          <a:blip r:embed="rId7"/>
          <a:srcRect/>
          <a:stretch/>
        </p:blipFill>
        <p:spPr>
          <a:xfrm>
            <a:off x="5156200" y="3251200"/>
            <a:ext cx="1974850" cy="532544"/>
          </a:xfrm>
          <a:prstGeom prst="rect">
            <a:avLst/>
          </a:prstGeom>
        </p:spPr>
      </p:pic>
      <p:pic>
        <p:nvPicPr>
          <p:cNvPr id="28" name="Image 6" descr="connector"/>
          <p:cNvPicPr>
            <a:picLocks noChangeAspect="1"/>
          </p:cNvPicPr>
          <p:nvPr/>
        </p:nvPicPr>
        <p:blipFill>
          <a:blip r:embed="rId8"/>
          <a:srcRect/>
          <a:stretch/>
        </p:blipFill>
        <p:spPr>
          <a:xfrm>
            <a:off x="3175000" y="4521200"/>
            <a:ext cx="101600" cy="546100"/>
          </a:xfrm>
          <a:prstGeom prst="rect">
            <a:avLst/>
          </a:prstGeom>
        </p:spPr>
      </p:pic>
      <p:pic>
        <p:nvPicPr>
          <p:cNvPr id="29" name="Image 7" descr="connector"/>
          <p:cNvPicPr>
            <a:picLocks noChangeAspect="1"/>
          </p:cNvPicPr>
          <p:nvPr/>
        </p:nvPicPr>
        <p:blipFill>
          <a:blip r:embed="rId9"/>
          <a:srcRect/>
          <a:stretch/>
        </p:blipFill>
        <p:spPr>
          <a:xfrm>
            <a:off x="8915400" y="4521200"/>
            <a:ext cx="101600" cy="546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ial" pitchFamily="34" charset="0"/>
                <a:ea typeface="Arial" pitchFamily="34" charset="-122"/>
                <a:cs typeface="Arial" pitchFamily="34" charset="-120"/>
              </a:rPr>
              <a:t>Diagrama de datos</a:t>
            </a:r>
            <a:endParaRPr lang="en-US" sz="3600" dirty="0"/>
          </a:p>
        </p:txBody>
      </p:sp>
      <p:sp>
        <p:nvSpPr>
          <p:cNvPr id="3" name="Shape 1"/>
          <p:cNvSpPr/>
          <p:nvPr/>
        </p:nvSpPr>
        <p:spPr>
          <a:xfrm>
            <a:off x="819150" y="1720850"/>
            <a:ext cx="2781300" cy="1848842"/>
          </a:xfrm>
          <a:prstGeom prst="roundRect">
            <a:avLst>
              <a:gd name="adj" fmla="val 5152"/>
            </a:avLst>
          </a:prstGeom>
          <a:solidFill>
            <a:srgbClr val="FDFCF8"/>
          </a:solidFill>
          <a:ln w="12700">
            <a:solidFill>
              <a:srgbClr val="14213D"/>
            </a:solidFill>
            <a:prstDash val="solid"/>
          </a:ln>
        </p:spPr>
        <p:txBody>
          <a:bodyPr/>
          <a:lstStyle/>
          <a:p>
            <a:endParaRPr lang="es-GT"/>
          </a:p>
        </p:txBody>
      </p:sp>
      <p:sp>
        <p:nvSpPr>
          <p:cNvPr id="4" name="Text 2"/>
          <p:cNvSpPr/>
          <p:nvPr/>
        </p:nvSpPr>
        <p:spPr>
          <a:xfrm>
            <a:off x="825500" y="1727200"/>
            <a:ext cx="2768600" cy="505420"/>
          </a:xfrm>
          <a:custGeom>
            <a:avLst/>
            <a:gdLst/>
            <a:ahLst/>
            <a:cxnLst/>
            <a:rect l="l" t="t" r="r" b="b"/>
            <a:pathLst>
              <a:path w="2768600" h="505420">
                <a:moveTo>
                  <a:pt x="0" y="88900"/>
                </a:moveTo>
                <a:arcTo wR="88900" hR="88900" stAng="10800000" swAng="5400000"/>
                <a:lnTo>
                  <a:pt x="2679700" y="0"/>
                </a:lnTo>
                <a:arcTo wR="88900" hR="88900" stAng="16200000" swAng="5400000"/>
                <a:lnTo>
                  <a:pt x="2768600" y="505420"/>
                </a:lnTo>
                <a:lnTo>
                  <a:pt x="0" y="505420"/>
                </a:lnTo>
                <a:close/>
              </a:path>
            </a:pathLst>
          </a:custGeom>
          <a:solidFill>
            <a:srgbClr val="0B7285"/>
          </a:solidFill>
          <a:ln/>
        </p:spPr>
        <p:txBody>
          <a:bodyPr wrap="square" lIns="152400" tIns="101600" rIns="78486" bIns="76200" rtlCol="0" anchor="t">
            <a:normAutofit/>
          </a:bodyPr>
          <a:lstStyle/>
          <a:p>
            <a:pPr marL="0" indent="0" algn="l">
              <a:lnSpc>
                <a:spcPts val="2380"/>
              </a:lnSpc>
              <a:buNone/>
            </a:pPr>
            <a:r>
              <a:rPr lang="en-US" sz="1700" b="1" dirty="0">
                <a:solidFill>
                  <a:srgbClr val="F4F1EA"/>
                </a:solidFill>
                <a:latin typeface="Courier New" pitchFamily="49" charset="0"/>
                <a:ea typeface="Courier New" pitchFamily="49" charset="-122"/>
                <a:cs typeface="Courier New" pitchFamily="49" charset="-120"/>
              </a:rPr>
              <a:t>clientes</a:t>
            </a:r>
            <a:endParaRPr lang="en-US" sz="1700" dirty="0"/>
          </a:p>
        </p:txBody>
      </p:sp>
      <p:sp>
        <p:nvSpPr>
          <p:cNvPr id="5" name="Text 3"/>
          <p:cNvSpPr/>
          <p:nvPr/>
        </p:nvSpPr>
        <p:spPr>
          <a:xfrm>
            <a:off x="977900" y="2359620"/>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id (PK)</a:t>
            </a:r>
            <a:endParaRPr lang="en-US" sz="1300" dirty="0"/>
          </a:p>
        </p:txBody>
      </p:sp>
      <p:sp>
        <p:nvSpPr>
          <p:cNvPr id="6" name="Text 4"/>
          <p:cNvSpPr/>
          <p:nvPr/>
        </p:nvSpPr>
        <p:spPr>
          <a:xfrm>
            <a:off x="977900" y="2641501"/>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nombre</a:t>
            </a:r>
            <a:endParaRPr lang="en-US" sz="1300" dirty="0"/>
          </a:p>
        </p:txBody>
      </p:sp>
      <p:sp>
        <p:nvSpPr>
          <p:cNvPr id="7" name="Text 5"/>
          <p:cNvSpPr/>
          <p:nvPr/>
        </p:nvSpPr>
        <p:spPr>
          <a:xfrm>
            <a:off x="977900" y="2923381"/>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nit</a:t>
            </a:r>
            <a:endParaRPr lang="en-US" sz="1300" dirty="0"/>
          </a:p>
        </p:txBody>
      </p:sp>
      <p:sp>
        <p:nvSpPr>
          <p:cNvPr id="8" name="Text 6"/>
          <p:cNvSpPr/>
          <p:nvPr/>
        </p:nvSpPr>
        <p:spPr>
          <a:xfrm>
            <a:off x="977900" y="3205262"/>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direccion</a:t>
            </a:r>
            <a:endParaRPr lang="en-US" sz="1300" dirty="0"/>
          </a:p>
        </p:txBody>
      </p:sp>
      <p:sp>
        <p:nvSpPr>
          <p:cNvPr id="9" name="Shape 7"/>
          <p:cNvSpPr/>
          <p:nvPr/>
        </p:nvSpPr>
        <p:spPr>
          <a:xfrm>
            <a:off x="4705350" y="1720850"/>
            <a:ext cx="2781300" cy="2694484"/>
          </a:xfrm>
          <a:prstGeom prst="roundRect">
            <a:avLst>
              <a:gd name="adj" fmla="val 3535"/>
            </a:avLst>
          </a:prstGeom>
          <a:solidFill>
            <a:srgbClr val="FDFCF8"/>
          </a:solidFill>
          <a:ln w="12700">
            <a:solidFill>
              <a:srgbClr val="14213D"/>
            </a:solidFill>
            <a:prstDash val="solid"/>
          </a:ln>
        </p:spPr>
        <p:txBody>
          <a:bodyPr/>
          <a:lstStyle/>
          <a:p>
            <a:endParaRPr lang="es-GT"/>
          </a:p>
        </p:txBody>
      </p:sp>
      <p:sp>
        <p:nvSpPr>
          <p:cNvPr id="10" name="Text 8"/>
          <p:cNvSpPr/>
          <p:nvPr/>
        </p:nvSpPr>
        <p:spPr>
          <a:xfrm>
            <a:off x="4711700" y="1727200"/>
            <a:ext cx="2768600" cy="505420"/>
          </a:xfrm>
          <a:custGeom>
            <a:avLst/>
            <a:gdLst/>
            <a:ahLst/>
            <a:cxnLst/>
            <a:rect l="l" t="t" r="r" b="b"/>
            <a:pathLst>
              <a:path w="2768600" h="505420">
                <a:moveTo>
                  <a:pt x="0" y="88900"/>
                </a:moveTo>
                <a:arcTo wR="88900" hR="88900" stAng="10800000" swAng="5400000"/>
                <a:lnTo>
                  <a:pt x="2679700" y="0"/>
                </a:lnTo>
                <a:arcTo wR="88900" hR="88900" stAng="16200000" swAng="5400000"/>
                <a:lnTo>
                  <a:pt x="2768600" y="505420"/>
                </a:lnTo>
                <a:lnTo>
                  <a:pt x="0" y="505420"/>
                </a:lnTo>
                <a:close/>
              </a:path>
            </a:pathLst>
          </a:custGeom>
          <a:solidFill>
            <a:srgbClr val="14213D"/>
          </a:solidFill>
          <a:ln/>
        </p:spPr>
        <p:txBody>
          <a:bodyPr wrap="square" lIns="152400" tIns="101600" rIns="78486" bIns="76200" rtlCol="0" anchor="t">
            <a:normAutofit/>
          </a:bodyPr>
          <a:lstStyle/>
          <a:p>
            <a:pPr marL="0" indent="0" algn="l">
              <a:lnSpc>
                <a:spcPts val="2380"/>
              </a:lnSpc>
              <a:buNone/>
            </a:pPr>
            <a:r>
              <a:rPr lang="en-US" sz="1700" b="1" dirty="0">
                <a:solidFill>
                  <a:srgbClr val="F4F1EA"/>
                </a:solidFill>
                <a:latin typeface="Courier New" pitchFamily="49" charset="0"/>
                <a:ea typeface="Courier New" pitchFamily="49" charset="-122"/>
                <a:cs typeface="Courier New" pitchFamily="49" charset="-120"/>
              </a:rPr>
              <a:t>pedidos</a:t>
            </a:r>
            <a:endParaRPr lang="en-US" sz="1700" dirty="0"/>
          </a:p>
        </p:txBody>
      </p:sp>
      <p:sp>
        <p:nvSpPr>
          <p:cNvPr id="11" name="Text 9"/>
          <p:cNvSpPr/>
          <p:nvPr/>
        </p:nvSpPr>
        <p:spPr>
          <a:xfrm>
            <a:off x="4864100" y="2359620"/>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id (PK)</a:t>
            </a:r>
            <a:endParaRPr lang="en-US" sz="1300" dirty="0"/>
          </a:p>
        </p:txBody>
      </p:sp>
      <p:sp>
        <p:nvSpPr>
          <p:cNvPr id="12" name="Text 10"/>
          <p:cNvSpPr/>
          <p:nvPr/>
        </p:nvSpPr>
        <p:spPr>
          <a:xfrm>
            <a:off x="4864100" y="2641501"/>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cliente_id (FK)</a:t>
            </a:r>
            <a:endParaRPr lang="en-US" sz="1300" dirty="0"/>
          </a:p>
        </p:txBody>
      </p:sp>
      <p:sp>
        <p:nvSpPr>
          <p:cNvPr id="13" name="Text 11"/>
          <p:cNvSpPr/>
          <p:nvPr/>
        </p:nvSpPr>
        <p:spPr>
          <a:xfrm>
            <a:off x="4864100" y="2923381"/>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producto_id (FK)</a:t>
            </a:r>
            <a:endParaRPr lang="en-US" sz="1300" dirty="0"/>
          </a:p>
        </p:txBody>
      </p:sp>
      <p:sp>
        <p:nvSpPr>
          <p:cNvPr id="14" name="Text 12"/>
          <p:cNvSpPr/>
          <p:nvPr/>
        </p:nvSpPr>
        <p:spPr>
          <a:xfrm>
            <a:off x="4864100" y="3205262"/>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nombre_cliente</a:t>
            </a:r>
            <a:endParaRPr lang="en-US" sz="1300" dirty="0"/>
          </a:p>
        </p:txBody>
      </p:sp>
      <p:sp>
        <p:nvSpPr>
          <p:cNvPr id="15" name="Text 13"/>
          <p:cNvSpPr/>
          <p:nvPr/>
        </p:nvSpPr>
        <p:spPr>
          <a:xfrm>
            <a:off x="4864100" y="3487142"/>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nombre_producto</a:t>
            </a:r>
            <a:endParaRPr lang="en-US" sz="1300" dirty="0"/>
          </a:p>
        </p:txBody>
      </p:sp>
      <p:sp>
        <p:nvSpPr>
          <p:cNvPr id="16" name="Text 14"/>
          <p:cNvSpPr/>
          <p:nvPr/>
        </p:nvSpPr>
        <p:spPr>
          <a:xfrm>
            <a:off x="4864100" y="3769023"/>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cantidad_producto</a:t>
            </a:r>
            <a:endParaRPr lang="en-US" sz="1300" dirty="0"/>
          </a:p>
        </p:txBody>
      </p:sp>
      <p:sp>
        <p:nvSpPr>
          <p:cNvPr id="17" name="Text 15"/>
          <p:cNvSpPr/>
          <p:nvPr/>
        </p:nvSpPr>
        <p:spPr>
          <a:xfrm>
            <a:off x="4864100" y="4050903"/>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valor_pedido</a:t>
            </a:r>
            <a:endParaRPr lang="en-US" sz="1300" dirty="0"/>
          </a:p>
        </p:txBody>
      </p:sp>
      <p:sp>
        <p:nvSpPr>
          <p:cNvPr id="18" name="Shape 16"/>
          <p:cNvSpPr/>
          <p:nvPr/>
        </p:nvSpPr>
        <p:spPr>
          <a:xfrm>
            <a:off x="8591550" y="1720850"/>
            <a:ext cx="2781300" cy="1848842"/>
          </a:xfrm>
          <a:prstGeom prst="roundRect">
            <a:avLst>
              <a:gd name="adj" fmla="val 5152"/>
            </a:avLst>
          </a:prstGeom>
          <a:solidFill>
            <a:srgbClr val="FDFCF8"/>
          </a:solidFill>
          <a:ln w="12700">
            <a:solidFill>
              <a:srgbClr val="14213D"/>
            </a:solidFill>
            <a:prstDash val="solid"/>
          </a:ln>
        </p:spPr>
        <p:txBody>
          <a:bodyPr/>
          <a:lstStyle/>
          <a:p>
            <a:endParaRPr lang="es-GT"/>
          </a:p>
        </p:txBody>
      </p:sp>
      <p:sp>
        <p:nvSpPr>
          <p:cNvPr id="19" name="Text 17"/>
          <p:cNvSpPr/>
          <p:nvPr/>
        </p:nvSpPr>
        <p:spPr>
          <a:xfrm>
            <a:off x="8597900" y="1727200"/>
            <a:ext cx="2768600" cy="505420"/>
          </a:xfrm>
          <a:custGeom>
            <a:avLst/>
            <a:gdLst/>
            <a:ahLst/>
            <a:cxnLst/>
            <a:rect l="l" t="t" r="r" b="b"/>
            <a:pathLst>
              <a:path w="2768600" h="505420">
                <a:moveTo>
                  <a:pt x="0" y="88900"/>
                </a:moveTo>
                <a:arcTo wR="88900" hR="88900" stAng="10800000" swAng="5400000"/>
                <a:lnTo>
                  <a:pt x="2679700" y="0"/>
                </a:lnTo>
                <a:arcTo wR="88900" hR="88900" stAng="16200000" swAng="5400000"/>
                <a:lnTo>
                  <a:pt x="2768600" y="505420"/>
                </a:lnTo>
                <a:lnTo>
                  <a:pt x="0" y="505420"/>
                </a:lnTo>
                <a:close/>
              </a:path>
            </a:pathLst>
          </a:custGeom>
          <a:solidFill>
            <a:srgbClr val="0B7285"/>
          </a:solidFill>
          <a:ln/>
        </p:spPr>
        <p:txBody>
          <a:bodyPr wrap="square" lIns="152400" tIns="101600" rIns="78486" bIns="76200" rtlCol="0" anchor="t">
            <a:normAutofit/>
          </a:bodyPr>
          <a:lstStyle/>
          <a:p>
            <a:pPr marL="0" indent="0" algn="l">
              <a:lnSpc>
                <a:spcPts val="2380"/>
              </a:lnSpc>
              <a:buNone/>
            </a:pPr>
            <a:r>
              <a:rPr lang="en-US" sz="1700" b="1" dirty="0">
                <a:solidFill>
                  <a:srgbClr val="F4F1EA"/>
                </a:solidFill>
                <a:latin typeface="Courier New" pitchFamily="49" charset="0"/>
                <a:ea typeface="Courier New" pitchFamily="49" charset="-122"/>
                <a:cs typeface="Courier New" pitchFamily="49" charset="-120"/>
              </a:rPr>
              <a:t>productos</a:t>
            </a:r>
            <a:endParaRPr lang="en-US" sz="1700" dirty="0"/>
          </a:p>
        </p:txBody>
      </p:sp>
      <p:sp>
        <p:nvSpPr>
          <p:cNvPr id="20" name="Text 18"/>
          <p:cNvSpPr/>
          <p:nvPr/>
        </p:nvSpPr>
        <p:spPr>
          <a:xfrm>
            <a:off x="8750300" y="2359620"/>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id (PK)</a:t>
            </a:r>
            <a:endParaRPr lang="en-US" sz="1300" dirty="0"/>
          </a:p>
        </p:txBody>
      </p:sp>
      <p:sp>
        <p:nvSpPr>
          <p:cNvPr id="21" name="Text 19"/>
          <p:cNvSpPr/>
          <p:nvPr/>
        </p:nvSpPr>
        <p:spPr>
          <a:xfrm>
            <a:off x="8750300" y="2641501"/>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nombre</a:t>
            </a:r>
            <a:endParaRPr lang="en-US" sz="1300" dirty="0"/>
          </a:p>
        </p:txBody>
      </p:sp>
      <p:sp>
        <p:nvSpPr>
          <p:cNvPr id="22" name="Text 20"/>
          <p:cNvSpPr/>
          <p:nvPr/>
        </p:nvSpPr>
        <p:spPr>
          <a:xfrm>
            <a:off x="8750300" y="2923381"/>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precio</a:t>
            </a:r>
            <a:endParaRPr lang="en-US" sz="1300" dirty="0"/>
          </a:p>
        </p:txBody>
      </p:sp>
      <p:sp>
        <p:nvSpPr>
          <p:cNvPr id="23" name="Text 21"/>
          <p:cNvSpPr/>
          <p:nvPr/>
        </p:nvSpPr>
        <p:spPr>
          <a:xfrm>
            <a:off x="8750300" y="3205262"/>
            <a:ext cx="253771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Courier New" pitchFamily="49" charset="0"/>
                <a:ea typeface="Courier New" pitchFamily="49" charset="-122"/>
                <a:cs typeface="Courier New" pitchFamily="49" charset="-120"/>
              </a:rPr>
              <a:t>existencia</a:t>
            </a:r>
            <a:endParaRPr lang="en-US" sz="1300" dirty="0"/>
          </a:p>
        </p:txBody>
      </p:sp>
      <p:pic>
        <p:nvPicPr>
          <p:cNvPr id="24" name="Image 0" descr="connector"/>
          <p:cNvPicPr>
            <a:picLocks noChangeAspect="1"/>
          </p:cNvPicPr>
          <p:nvPr/>
        </p:nvPicPr>
        <p:blipFill>
          <a:blip r:embed="rId3"/>
          <a:srcRect/>
          <a:stretch/>
        </p:blipFill>
        <p:spPr>
          <a:xfrm>
            <a:off x="3556000" y="2743200"/>
            <a:ext cx="1193800" cy="101600"/>
          </a:xfrm>
          <a:prstGeom prst="rect">
            <a:avLst/>
          </a:prstGeom>
        </p:spPr>
      </p:pic>
      <p:pic>
        <p:nvPicPr>
          <p:cNvPr id="25" name="Image 1" descr="connector"/>
          <p:cNvPicPr>
            <a:picLocks noChangeAspect="1"/>
          </p:cNvPicPr>
          <p:nvPr/>
        </p:nvPicPr>
        <p:blipFill>
          <a:blip r:embed="rId3"/>
          <a:srcRect/>
          <a:stretch/>
        </p:blipFill>
        <p:spPr>
          <a:xfrm>
            <a:off x="7442200" y="2743200"/>
            <a:ext cx="1193800" cy="101600"/>
          </a:xfrm>
          <a:prstGeom prst="rect">
            <a:avLst/>
          </a:prstGeom>
        </p:spPr>
      </p:pic>
      <p:sp>
        <p:nvSpPr>
          <p:cNvPr id="26" name="Text 22"/>
          <p:cNvSpPr/>
          <p:nvPr/>
        </p:nvSpPr>
        <p:spPr>
          <a:xfrm>
            <a:off x="3683000" y="2476500"/>
            <a:ext cx="368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4530F"/>
                </a:solidFill>
                <a:latin typeface="Arial" pitchFamily="34" charset="0"/>
                <a:ea typeface="Arial" pitchFamily="34" charset="-122"/>
                <a:cs typeface="Arial" pitchFamily="34" charset="-120"/>
              </a:rPr>
              <a:t>1</a:t>
            </a:r>
            <a:endParaRPr lang="en-US" sz="1400" dirty="0"/>
          </a:p>
        </p:txBody>
      </p:sp>
      <p:sp>
        <p:nvSpPr>
          <p:cNvPr id="27" name="Text 23"/>
          <p:cNvSpPr/>
          <p:nvPr/>
        </p:nvSpPr>
        <p:spPr>
          <a:xfrm>
            <a:off x="4330700" y="2476500"/>
            <a:ext cx="368300"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B4530F"/>
                </a:solidFill>
                <a:latin typeface="Arial" pitchFamily="34" charset="0"/>
                <a:ea typeface="Arial" pitchFamily="34" charset="-122"/>
                <a:cs typeface="Arial" pitchFamily="34" charset="-120"/>
              </a:rPr>
              <a:t>N</a:t>
            </a:r>
            <a:endParaRPr lang="en-US" sz="1400" dirty="0"/>
          </a:p>
        </p:txBody>
      </p:sp>
      <p:sp>
        <p:nvSpPr>
          <p:cNvPr id="28" name="Text 24"/>
          <p:cNvSpPr/>
          <p:nvPr/>
        </p:nvSpPr>
        <p:spPr>
          <a:xfrm>
            <a:off x="7569200" y="2476500"/>
            <a:ext cx="368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4530F"/>
                </a:solidFill>
                <a:latin typeface="Arial" pitchFamily="34" charset="0"/>
                <a:ea typeface="Arial" pitchFamily="34" charset="-122"/>
                <a:cs typeface="Arial" pitchFamily="34" charset="-120"/>
              </a:rPr>
              <a:t>N</a:t>
            </a:r>
            <a:endParaRPr lang="en-US" sz="1400" dirty="0"/>
          </a:p>
        </p:txBody>
      </p:sp>
      <p:sp>
        <p:nvSpPr>
          <p:cNvPr id="29" name="Text 25"/>
          <p:cNvSpPr/>
          <p:nvPr/>
        </p:nvSpPr>
        <p:spPr>
          <a:xfrm>
            <a:off x="8216900" y="2476500"/>
            <a:ext cx="368300"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B4530F"/>
                </a:solidFill>
                <a:latin typeface="Arial" pitchFamily="34" charset="0"/>
                <a:ea typeface="Arial" pitchFamily="34" charset="-122"/>
                <a:cs typeface="Arial" pitchFamily="34" charset="-120"/>
              </a:rPr>
              <a:t>1</a:t>
            </a:r>
            <a:endParaRPr lang="en-US" sz="1400" dirty="0"/>
          </a:p>
        </p:txBody>
      </p:sp>
      <p:sp>
        <p:nvSpPr>
          <p:cNvPr id="30" name="Text 26"/>
          <p:cNvSpPr/>
          <p:nvPr/>
        </p:nvSpPr>
        <p:spPr>
          <a:xfrm>
            <a:off x="812800" y="4635500"/>
            <a:ext cx="36626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7285"/>
                </a:solidFill>
                <a:latin typeface="Arial" pitchFamily="34" charset="0"/>
                <a:ea typeface="Arial" pitchFamily="34" charset="-122"/>
                <a:cs typeface="Arial" pitchFamily="34" charset="-120"/>
              </a:rPr>
              <a:t>Códigos de relación</a:t>
            </a:r>
            <a:endParaRPr lang="en-US" sz="1400" dirty="0"/>
          </a:p>
        </p:txBody>
      </p:sp>
      <p:sp>
        <p:nvSpPr>
          <p:cNvPr id="31" name="Text 27"/>
          <p:cNvSpPr/>
          <p:nvPr/>
        </p:nvSpPr>
        <p:spPr>
          <a:xfrm>
            <a:off x="812800" y="4935141"/>
            <a:ext cx="366268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id, cliente_id y producto_id evitan confusiones entre nombres parecidos.</a:t>
            </a:r>
            <a:endParaRPr lang="en-US" sz="1300" dirty="0"/>
          </a:p>
        </p:txBody>
      </p:sp>
      <p:sp>
        <p:nvSpPr>
          <p:cNvPr id="32" name="Text 28"/>
          <p:cNvSpPr/>
          <p:nvPr/>
        </p:nvSpPr>
        <p:spPr>
          <a:xfrm>
            <a:off x="4699000" y="4635500"/>
            <a:ext cx="34010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7285"/>
                </a:solidFill>
                <a:latin typeface="Arial" pitchFamily="34" charset="0"/>
                <a:ea typeface="Arial" pitchFamily="34" charset="-122"/>
                <a:cs typeface="Arial" pitchFamily="34" charset="-120"/>
              </a:rPr>
              <a:t>Historial</a:t>
            </a:r>
            <a:endParaRPr lang="en-US" sz="1400" dirty="0"/>
          </a:p>
        </p:txBody>
      </p:sp>
      <p:sp>
        <p:nvSpPr>
          <p:cNvPr id="33" name="Text 29"/>
          <p:cNvSpPr/>
          <p:nvPr/>
        </p:nvSpPr>
        <p:spPr>
          <a:xfrm>
            <a:off x="4699000" y="4935141"/>
            <a:ext cx="340106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El pedido guarda los nombres y el valor del momento de la venta.</a:t>
            </a:r>
            <a:endParaRPr lang="en-US" sz="1300" dirty="0"/>
          </a:p>
        </p:txBody>
      </p:sp>
      <p:sp>
        <p:nvSpPr>
          <p:cNvPr id="34" name="Text 30"/>
          <p:cNvSpPr/>
          <p:nvPr/>
        </p:nvSpPr>
        <p:spPr>
          <a:xfrm>
            <a:off x="8585200" y="4635500"/>
            <a:ext cx="287782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7285"/>
                </a:solidFill>
                <a:latin typeface="Arial" pitchFamily="34" charset="0"/>
                <a:ea typeface="Arial" pitchFamily="34" charset="-122"/>
                <a:cs typeface="Arial" pitchFamily="34" charset="-120"/>
              </a:rPr>
              <a:t>Integridad</a:t>
            </a:r>
            <a:endParaRPr lang="en-US" sz="1400" dirty="0"/>
          </a:p>
        </p:txBody>
      </p:sp>
      <p:sp>
        <p:nvSpPr>
          <p:cNvPr id="35" name="Text 31"/>
          <p:cNvSpPr/>
          <p:nvPr/>
        </p:nvSpPr>
        <p:spPr>
          <a:xfrm>
            <a:off x="8585200" y="4935141"/>
            <a:ext cx="287782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No se elimina un cliente o producto que tenga pedidos.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ial" pitchFamily="34" charset="0"/>
                <a:ea typeface="Arial" pitchFamily="34" charset="-122"/>
                <a:cs typeface="Arial" pitchFamily="34" charset="-120"/>
              </a:rPr>
              <a:t>Diagrama de flujo: agregar pedido</a:t>
            </a:r>
            <a:endParaRPr lang="en-US" sz="3600" dirty="0"/>
          </a:p>
        </p:txBody>
      </p:sp>
      <p:sp>
        <p:nvSpPr>
          <p:cNvPr id="3" name="Text 1"/>
          <p:cNvSpPr/>
          <p:nvPr/>
        </p:nvSpPr>
        <p:spPr>
          <a:xfrm>
            <a:off x="812800" y="2127250"/>
            <a:ext cx="1397000" cy="825500"/>
          </a:xfrm>
          <a:custGeom>
            <a:avLst/>
            <a:gdLst/>
            <a:ahLst/>
            <a:cxnLst/>
            <a:rect l="l" t="t" r="r" b="b"/>
            <a:pathLst>
              <a:path w="1397000" h="825500">
                <a:moveTo>
                  <a:pt x="412750" y="0"/>
                </a:moveTo>
                <a:lnTo>
                  <a:pt x="984250" y="0"/>
                </a:lnTo>
                <a:arcTo wR="412750" hR="412750" stAng="16200000" swAng="5400000"/>
                <a:lnTo>
                  <a:pt x="1397000" y="412750"/>
                </a:lnTo>
                <a:arcTo wR="412750" hR="412750" stAng="0" swAng="5400000"/>
                <a:lnTo>
                  <a:pt x="412750" y="825500"/>
                </a:lnTo>
                <a:arcTo wR="412750" hR="412750" stAng="5400000" swAng="5400000"/>
                <a:lnTo>
                  <a:pt x="0" y="412750"/>
                </a:lnTo>
                <a:arcTo wR="412750" hR="412750" stAng="10800000" swAng="5400000"/>
                <a:close/>
              </a:path>
            </a:pathLst>
          </a:custGeom>
          <a:solidFill>
            <a:srgbClr val="14213D"/>
          </a:solidFill>
          <a:ln/>
        </p:spPr>
        <p:txBody>
          <a:bodyPr wrap="square" lIns="101600" tIns="0" rIns="101600" bIns="0" rtlCol="0" anchor="ctr">
            <a:normAutofit/>
          </a:bodyPr>
          <a:lstStyle/>
          <a:p>
            <a:pPr marL="0" indent="0" algn="ctr">
              <a:lnSpc>
                <a:spcPts val="1820"/>
              </a:lnSpc>
              <a:buNone/>
            </a:pPr>
            <a:r>
              <a:rPr lang="en-US" sz="1300" b="1" dirty="0">
                <a:solidFill>
                  <a:srgbClr val="F4F1EA"/>
                </a:solidFill>
                <a:latin typeface="Arial" pitchFamily="34" charset="0"/>
                <a:ea typeface="Arial" pitchFamily="34" charset="-122"/>
                <a:cs typeface="Arial" pitchFamily="34" charset="-120"/>
              </a:rPr>
              <a:t>Elegir cliente, producto y cantidad</a:t>
            </a:r>
            <a:endParaRPr lang="en-US" sz="1300" dirty="0"/>
          </a:p>
        </p:txBody>
      </p:sp>
      <p:pic>
        <p:nvPicPr>
          <p:cNvPr id="4" name="Image 0" descr="diamond"/>
          <p:cNvPicPr>
            <a:picLocks noChangeAspect="1"/>
          </p:cNvPicPr>
          <p:nvPr/>
        </p:nvPicPr>
        <p:blipFill>
          <a:blip r:embed="rId3"/>
          <a:srcRect/>
          <a:stretch/>
        </p:blipFill>
        <p:spPr>
          <a:xfrm>
            <a:off x="2692400" y="1841500"/>
            <a:ext cx="1778000" cy="1397000"/>
          </a:xfrm>
          <a:prstGeom prst="rect">
            <a:avLst/>
          </a:prstGeom>
        </p:spPr>
      </p:pic>
      <p:sp>
        <p:nvSpPr>
          <p:cNvPr id="5" name="Text 2"/>
          <p:cNvSpPr/>
          <p:nvPr/>
        </p:nvSpPr>
        <p:spPr>
          <a:xfrm>
            <a:off x="3048000" y="2362200"/>
            <a:ext cx="1066800" cy="487561"/>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4213D"/>
                </a:solidFill>
                <a:latin typeface="Arial" pitchFamily="34" charset="0"/>
                <a:ea typeface="Arial" pitchFamily="34" charset="-122"/>
                <a:cs typeface="Arial" pitchFamily="34" charset="-120"/>
              </a:rPr>
              <a:t>¿Datos válidos?</a:t>
            </a:r>
            <a:endParaRPr lang="en-US" sz="1300" dirty="0"/>
          </a:p>
        </p:txBody>
      </p:sp>
      <p:pic>
        <p:nvPicPr>
          <p:cNvPr id="6" name="Image 1" descr="diamond"/>
          <p:cNvPicPr>
            <a:picLocks noChangeAspect="1"/>
          </p:cNvPicPr>
          <p:nvPr/>
        </p:nvPicPr>
        <p:blipFill>
          <a:blip r:embed="rId4"/>
          <a:srcRect/>
          <a:stretch/>
        </p:blipFill>
        <p:spPr>
          <a:xfrm>
            <a:off x="4953000" y="1841500"/>
            <a:ext cx="1905000" cy="1397000"/>
          </a:xfrm>
          <a:prstGeom prst="rect">
            <a:avLst/>
          </a:prstGeom>
        </p:spPr>
      </p:pic>
      <p:sp>
        <p:nvSpPr>
          <p:cNvPr id="7" name="Text 3"/>
          <p:cNvSpPr/>
          <p:nvPr/>
        </p:nvSpPr>
        <p:spPr>
          <a:xfrm>
            <a:off x="5308600" y="2273300"/>
            <a:ext cx="1193800" cy="718641"/>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4213D"/>
                </a:solidFill>
                <a:latin typeface="Arial" pitchFamily="34" charset="0"/>
                <a:ea typeface="Arial" pitchFamily="34" charset="-122"/>
                <a:cs typeface="Arial" pitchFamily="34" charset="-120"/>
              </a:rPr>
              <a:t>¿Hay existencia suficiente?</a:t>
            </a:r>
            <a:endParaRPr lang="en-US" sz="1300" dirty="0"/>
          </a:p>
        </p:txBody>
      </p:sp>
      <p:sp>
        <p:nvSpPr>
          <p:cNvPr id="8" name="Text 4"/>
          <p:cNvSpPr/>
          <p:nvPr/>
        </p:nvSpPr>
        <p:spPr>
          <a:xfrm>
            <a:off x="7346950" y="2133600"/>
            <a:ext cx="1638300" cy="812800"/>
          </a:xfrm>
          <a:prstGeom prst="roundRect">
            <a:avLst>
              <a:gd name="adj" fmla="val 11719"/>
            </a:avLst>
          </a:prstGeom>
          <a:solidFill>
            <a:srgbClr val="FDFCF8"/>
          </a:solidFill>
          <a:ln w="12700">
            <a:solidFill>
              <a:srgbClr val="14213D"/>
            </a:solidFill>
            <a:prstDash val="solid"/>
          </a:ln>
        </p:spPr>
        <p:txBody>
          <a:bodyPr wrap="square" lIns="67352" tIns="0" rIns="67352" bIns="0" rtlCol="0" anchor="ctr">
            <a:normAutofit/>
          </a:bodyPr>
          <a:lstStyle/>
          <a:p>
            <a:pPr marL="0" indent="0" algn="ctr">
              <a:lnSpc>
                <a:spcPts val="1820"/>
              </a:lnSpc>
              <a:buNone/>
            </a:pPr>
            <a:r>
              <a:rPr lang="en-US" sz="1300" b="1" dirty="0">
                <a:solidFill>
                  <a:srgbClr val="14213D"/>
                </a:solidFill>
                <a:latin typeface="Arial" pitchFamily="34" charset="0"/>
                <a:ea typeface="Arial" pitchFamily="34" charset="-122"/>
                <a:cs typeface="Arial" pitchFamily="34" charset="-120"/>
              </a:rPr>
              <a:t>Valor = precio × cantidad</a:t>
            </a:r>
            <a:endParaRPr lang="en-US" sz="1300" dirty="0"/>
          </a:p>
        </p:txBody>
      </p:sp>
      <p:sp>
        <p:nvSpPr>
          <p:cNvPr id="9" name="Text 5"/>
          <p:cNvSpPr/>
          <p:nvPr/>
        </p:nvSpPr>
        <p:spPr>
          <a:xfrm>
            <a:off x="9480550" y="2006600"/>
            <a:ext cx="1892300" cy="1066800"/>
          </a:xfrm>
          <a:prstGeom prst="roundRect">
            <a:avLst>
              <a:gd name="adj" fmla="val 8929"/>
            </a:avLst>
          </a:prstGeom>
          <a:solidFill>
            <a:srgbClr val="D5EBEE"/>
          </a:solidFill>
          <a:ln w="12700">
            <a:solidFill>
              <a:srgbClr val="0B7285"/>
            </a:solidFill>
            <a:prstDash val="solid"/>
          </a:ln>
        </p:spPr>
        <p:txBody>
          <a:bodyPr wrap="square" lIns="67352" tIns="0" rIns="67352" bIns="0" rtlCol="0" anchor="ctr">
            <a:normAutofit/>
          </a:bodyPr>
          <a:lstStyle/>
          <a:p>
            <a:pPr marL="0" indent="0" algn="ctr">
              <a:lnSpc>
                <a:spcPts val="1820"/>
              </a:lnSpc>
              <a:buNone/>
            </a:pPr>
            <a:r>
              <a:rPr lang="en-US" sz="1300" b="1" dirty="0">
                <a:solidFill>
                  <a:srgbClr val="14213D"/>
                </a:solidFill>
                <a:latin typeface="Arial" pitchFamily="34" charset="0"/>
                <a:ea typeface="Arial" pitchFamily="34" charset="-122"/>
                <a:cs typeface="Arial" pitchFamily="34" charset="-120"/>
              </a:rPr>
              <a:t>Guardar pedido y restar la existencia</a:t>
            </a:r>
            <a:endParaRPr lang="en-US" sz="1300" dirty="0"/>
          </a:p>
        </p:txBody>
      </p:sp>
      <p:sp>
        <p:nvSpPr>
          <p:cNvPr id="10" name="Text 6"/>
          <p:cNvSpPr/>
          <p:nvPr/>
        </p:nvSpPr>
        <p:spPr>
          <a:xfrm>
            <a:off x="2698750" y="3943350"/>
            <a:ext cx="1765300" cy="749300"/>
          </a:xfrm>
          <a:prstGeom prst="roundRect">
            <a:avLst>
              <a:gd name="adj" fmla="val 12712"/>
            </a:avLst>
          </a:prstGeom>
          <a:solidFill>
            <a:srgbClr val="FBE7D6"/>
          </a:solidFill>
          <a:ln w="12700">
            <a:solidFill>
              <a:srgbClr val="B4530F"/>
            </a:solidFill>
            <a:prstDash val="solid"/>
          </a:ln>
        </p:spPr>
        <p:txBody>
          <a:bodyPr wrap="square" lIns="67352" tIns="0" rIns="67352" bIns="0" rtlCol="0" anchor="ctr">
            <a:normAutofit/>
          </a:bodyPr>
          <a:lstStyle/>
          <a:p>
            <a:pPr marL="0" indent="0" algn="ctr">
              <a:lnSpc>
                <a:spcPts val="1820"/>
              </a:lnSpc>
              <a:buNone/>
            </a:pPr>
            <a:r>
              <a:rPr lang="en-US" sz="1300" b="1" dirty="0">
                <a:solidFill>
                  <a:srgbClr val="14213D"/>
                </a:solidFill>
                <a:latin typeface="Arial" pitchFamily="34" charset="0"/>
                <a:ea typeface="Arial" pitchFamily="34" charset="-122"/>
                <a:cs typeface="Arial" pitchFamily="34" charset="-120"/>
              </a:rPr>
              <a:t>Error: datos inválidos</a:t>
            </a:r>
            <a:endParaRPr lang="en-US" sz="1300" dirty="0"/>
          </a:p>
        </p:txBody>
      </p:sp>
      <p:sp>
        <p:nvSpPr>
          <p:cNvPr id="11" name="Text 7"/>
          <p:cNvSpPr/>
          <p:nvPr/>
        </p:nvSpPr>
        <p:spPr>
          <a:xfrm>
            <a:off x="4959350" y="3943350"/>
            <a:ext cx="1892300" cy="749300"/>
          </a:xfrm>
          <a:prstGeom prst="roundRect">
            <a:avLst>
              <a:gd name="adj" fmla="val 12712"/>
            </a:avLst>
          </a:prstGeom>
          <a:solidFill>
            <a:srgbClr val="FBE7D6"/>
          </a:solidFill>
          <a:ln w="12700">
            <a:solidFill>
              <a:srgbClr val="B4530F"/>
            </a:solidFill>
            <a:prstDash val="solid"/>
          </a:ln>
        </p:spPr>
        <p:txBody>
          <a:bodyPr wrap="square" lIns="67352" tIns="0" rIns="67352" bIns="0" rtlCol="0" anchor="ctr">
            <a:normAutofit/>
          </a:bodyPr>
          <a:lstStyle/>
          <a:p>
            <a:pPr marL="0" indent="0" algn="ctr">
              <a:lnSpc>
                <a:spcPts val="1820"/>
              </a:lnSpc>
              <a:buNone/>
            </a:pPr>
            <a:r>
              <a:rPr lang="en-US" sz="1300" b="1" dirty="0">
                <a:solidFill>
                  <a:srgbClr val="14213D"/>
                </a:solidFill>
                <a:latin typeface="Arial" pitchFamily="34" charset="0"/>
                <a:ea typeface="Arial" pitchFamily="34" charset="-122"/>
                <a:cs typeface="Arial" pitchFamily="34" charset="-120"/>
              </a:rPr>
              <a:t>Error: existencia insuficiente</a:t>
            </a:r>
            <a:endParaRPr lang="en-US" sz="1300" dirty="0"/>
          </a:p>
        </p:txBody>
      </p:sp>
      <p:sp>
        <p:nvSpPr>
          <p:cNvPr id="12" name="Text 8"/>
          <p:cNvSpPr/>
          <p:nvPr/>
        </p:nvSpPr>
        <p:spPr>
          <a:xfrm>
            <a:off x="9791700" y="3937000"/>
            <a:ext cx="1270000" cy="508000"/>
          </a:xfrm>
          <a:prstGeom prst="roundRect">
            <a:avLst>
              <a:gd name="adj" fmla="val 50000"/>
            </a:avLst>
          </a:prstGeom>
          <a:solidFill>
            <a:srgbClr val="14213D"/>
          </a:solidFill>
          <a:ln/>
        </p:spPr>
        <p:txBody>
          <a:bodyPr wrap="square" lIns="27206" tIns="0" rIns="27206" bIns="0" rtlCol="0" anchor="ctr">
            <a:normAutofit/>
          </a:bodyPr>
          <a:lstStyle/>
          <a:p>
            <a:pPr marL="0" indent="0" algn="ctr">
              <a:lnSpc>
                <a:spcPts val="1960"/>
              </a:lnSpc>
              <a:buNone/>
            </a:pPr>
            <a:r>
              <a:rPr lang="en-US" sz="1400" b="1" dirty="0">
                <a:solidFill>
                  <a:srgbClr val="F4F1EA"/>
                </a:solidFill>
                <a:latin typeface="Arial" pitchFamily="34" charset="0"/>
                <a:ea typeface="Arial" pitchFamily="34" charset="-122"/>
                <a:cs typeface="Arial" pitchFamily="34" charset="-120"/>
              </a:rPr>
              <a:t>Fin</a:t>
            </a:r>
            <a:endParaRPr lang="en-US" sz="1400" dirty="0"/>
          </a:p>
        </p:txBody>
      </p:sp>
      <p:pic>
        <p:nvPicPr>
          <p:cNvPr id="13" name="Image 2" descr="connector"/>
          <p:cNvPicPr>
            <a:picLocks noChangeAspect="1"/>
          </p:cNvPicPr>
          <p:nvPr/>
        </p:nvPicPr>
        <p:blipFill>
          <a:blip r:embed="rId5"/>
          <a:srcRect/>
          <a:stretch/>
        </p:blipFill>
        <p:spPr>
          <a:xfrm>
            <a:off x="2159000" y="2489200"/>
            <a:ext cx="584200" cy="101600"/>
          </a:xfrm>
          <a:prstGeom prst="rect">
            <a:avLst/>
          </a:prstGeom>
        </p:spPr>
      </p:pic>
      <p:pic>
        <p:nvPicPr>
          <p:cNvPr id="14" name="Image 3" descr="connector"/>
          <p:cNvPicPr>
            <a:picLocks noChangeAspect="1"/>
          </p:cNvPicPr>
          <p:nvPr/>
        </p:nvPicPr>
        <p:blipFill>
          <a:blip r:embed="rId5"/>
          <a:srcRect/>
          <a:stretch/>
        </p:blipFill>
        <p:spPr>
          <a:xfrm>
            <a:off x="4419600" y="2489200"/>
            <a:ext cx="584200" cy="101600"/>
          </a:xfrm>
          <a:prstGeom prst="rect">
            <a:avLst/>
          </a:prstGeom>
        </p:spPr>
      </p:pic>
      <p:pic>
        <p:nvPicPr>
          <p:cNvPr id="15" name="Image 4" descr="connector"/>
          <p:cNvPicPr>
            <a:picLocks noChangeAspect="1"/>
          </p:cNvPicPr>
          <p:nvPr/>
        </p:nvPicPr>
        <p:blipFill>
          <a:blip r:embed="rId5"/>
          <a:srcRect/>
          <a:stretch/>
        </p:blipFill>
        <p:spPr>
          <a:xfrm>
            <a:off x="6807200" y="2489200"/>
            <a:ext cx="584200" cy="101600"/>
          </a:xfrm>
          <a:prstGeom prst="rect">
            <a:avLst/>
          </a:prstGeom>
        </p:spPr>
      </p:pic>
      <p:pic>
        <p:nvPicPr>
          <p:cNvPr id="16" name="Image 5" descr="connector"/>
          <p:cNvPicPr>
            <a:picLocks noChangeAspect="1"/>
          </p:cNvPicPr>
          <p:nvPr/>
        </p:nvPicPr>
        <p:blipFill>
          <a:blip r:embed="rId5"/>
          <a:srcRect/>
          <a:stretch/>
        </p:blipFill>
        <p:spPr>
          <a:xfrm>
            <a:off x="8940800" y="2489200"/>
            <a:ext cx="584200" cy="101600"/>
          </a:xfrm>
          <a:prstGeom prst="rect">
            <a:avLst/>
          </a:prstGeom>
        </p:spPr>
      </p:pic>
      <p:pic>
        <p:nvPicPr>
          <p:cNvPr id="17" name="Image 6" descr="connector"/>
          <p:cNvPicPr>
            <a:picLocks noChangeAspect="1"/>
          </p:cNvPicPr>
          <p:nvPr/>
        </p:nvPicPr>
        <p:blipFill>
          <a:blip r:embed="rId6"/>
          <a:srcRect/>
          <a:stretch/>
        </p:blipFill>
        <p:spPr>
          <a:xfrm>
            <a:off x="3530600" y="3187700"/>
            <a:ext cx="101600" cy="800100"/>
          </a:xfrm>
          <a:prstGeom prst="rect">
            <a:avLst/>
          </a:prstGeom>
        </p:spPr>
      </p:pic>
      <p:pic>
        <p:nvPicPr>
          <p:cNvPr id="18" name="Image 7" descr="connector"/>
          <p:cNvPicPr>
            <a:picLocks noChangeAspect="1"/>
          </p:cNvPicPr>
          <p:nvPr/>
        </p:nvPicPr>
        <p:blipFill>
          <a:blip r:embed="rId6"/>
          <a:srcRect/>
          <a:stretch/>
        </p:blipFill>
        <p:spPr>
          <a:xfrm>
            <a:off x="5854700" y="3187700"/>
            <a:ext cx="101600" cy="800100"/>
          </a:xfrm>
          <a:prstGeom prst="rect">
            <a:avLst/>
          </a:prstGeom>
        </p:spPr>
      </p:pic>
      <p:pic>
        <p:nvPicPr>
          <p:cNvPr id="19" name="Image 8" descr="connector"/>
          <p:cNvPicPr>
            <a:picLocks noChangeAspect="1"/>
          </p:cNvPicPr>
          <p:nvPr/>
        </p:nvPicPr>
        <p:blipFill>
          <a:blip r:embed="rId7"/>
          <a:srcRect/>
          <a:stretch/>
        </p:blipFill>
        <p:spPr>
          <a:xfrm>
            <a:off x="10375900" y="3028950"/>
            <a:ext cx="101600" cy="958850"/>
          </a:xfrm>
          <a:prstGeom prst="rect">
            <a:avLst/>
          </a:prstGeom>
        </p:spPr>
      </p:pic>
      <p:sp>
        <p:nvSpPr>
          <p:cNvPr id="20" name="Text 9"/>
          <p:cNvSpPr/>
          <p:nvPr/>
        </p:nvSpPr>
        <p:spPr>
          <a:xfrm>
            <a:off x="4445000" y="2235200"/>
            <a:ext cx="5334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B7285"/>
                </a:solidFill>
                <a:latin typeface="Arial" pitchFamily="34" charset="0"/>
                <a:ea typeface="Arial" pitchFamily="34" charset="-122"/>
                <a:cs typeface="Arial" pitchFamily="34" charset="-120"/>
              </a:rPr>
              <a:t>Sí</a:t>
            </a:r>
            <a:endParaRPr lang="en-US" sz="1300" dirty="0"/>
          </a:p>
        </p:txBody>
      </p:sp>
      <p:sp>
        <p:nvSpPr>
          <p:cNvPr id="21" name="Text 10"/>
          <p:cNvSpPr/>
          <p:nvPr/>
        </p:nvSpPr>
        <p:spPr>
          <a:xfrm>
            <a:off x="6832600" y="2235200"/>
            <a:ext cx="5334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B7285"/>
                </a:solidFill>
                <a:latin typeface="Arial" pitchFamily="34" charset="0"/>
                <a:ea typeface="Arial" pitchFamily="34" charset="-122"/>
                <a:cs typeface="Arial" pitchFamily="34" charset="-120"/>
              </a:rPr>
              <a:t>Sí</a:t>
            </a:r>
            <a:endParaRPr lang="en-US" sz="1300" dirty="0"/>
          </a:p>
        </p:txBody>
      </p:sp>
      <p:sp>
        <p:nvSpPr>
          <p:cNvPr id="22" name="Text 11"/>
          <p:cNvSpPr/>
          <p:nvPr/>
        </p:nvSpPr>
        <p:spPr>
          <a:xfrm>
            <a:off x="3683000" y="3492500"/>
            <a:ext cx="431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0F"/>
                </a:solidFill>
                <a:latin typeface="Arial" pitchFamily="34" charset="0"/>
                <a:ea typeface="Arial" pitchFamily="34" charset="-122"/>
                <a:cs typeface="Arial" pitchFamily="34" charset="-120"/>
              </a:rPr>
              <a:t>No</a:t>
            </a:r>
            <a:endParaRPr lang="en-US" sz="1300" dirty="0"/>
          </a:p>
        </p:txBody>
      </p:sp>
      <p:sp>
        <p:nvSpPr>
          <p:cNvPr id="23" name="Text 12"/>
          <p:cNvSpPr/>
          <p:nvPr/>
        </p:nvSpPr>
        <p:spPr>
          <a:xfrm>
            <a:off x="6007100" y="3492500"/>
            <a:ext cx="431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0F"/>
                </a:solidFill>
                <a:latin typeface="Arial" pitchFamily="34" charset="0"/>
                <a:ea typeface="Arial" pitchFamily="34" charset="-122"/>
                <a:cs typeface="Arial" pitchFamily="34" charset="-120"/>
              </a:rPr>
              <a:t>No</a:t>
            </a:r>
            <a:endParaRPr lang="en-US" sz="1300" dirty="0"/>
          </a:p>
        </p:txBody>
      </p:sp>
      <p:sp>
        <p:nvSpPr>
          <p:cNvPr id="24" name="Text 13"/>
          <p:cNvSpPr/>
          <p:nvPr/>
        </p:nvSpPr>
        <p:spPr>
          <a:xfrm>
            <a:off x="812800" y="5080000"/>
            <a:ext cx="113792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Ejemplo: 2 controles de Q150 → valor Q300, existencia 5 → 3. Al eliminar el pedido, las 2 unidades vuelven al inventario.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ial" pitchFamily="34" charset="0"/>
                <a:ea typeface="Arial" pitchFamily="34" charset="-122"/>
                <a:cs typeface="Arial" pitchFamily="34" charset="-120"/>
              </a:rPr>
              <a:t>Diagrama de clases</a:t>
            </a:r>
            <a:endParaRPr lang="en-US" sz="3600" dirty="0"/>
          </a:p>
        </p:txBody>
      </p:sp>
      <p:sp>
        <p:nvSpPr>
          <p:cNvPr id="3" name="Shape 1"/>
          <p:cNvSpPr/>
          <p:nvPr/>
        </p:nvSpPr>
        <p:spPr>
          <a:xfrm>
            <a:off x="819150" y="1593850"/>
            <a:ext cx="5956300" cy="2976463"/>
          </a:xfrm>
          <a:prstGeom prst="roundRect">
            <a:avLst>
              <a:gd name="adj" fmla="val 3200"/>
            </a:avLst>
          </a:prstGeom>
          <a:solidFill>
            <a:srgbClr val="FDFCF8"/>
          </a:solidFill>
          <a:ln w="12700">
            <a:solidFill>
              <a:srgbClr val="14213D"/>
            </a:solidFill>
            <a:prstDash val="solid"/>
          </a:ln>
        </p:spPr>
        <p:txBody>
          <a:bodyPr/>
          <a:lstStyle/>
          <a:p>
            <a:endParaRPr lang="es-GT"/>
          </a:p>
        </p:txBody>
      </p:sp>
      <p:sp>
        <p:nvSpPr>
          <p:cNvPr id="4" name="Text 2"/>
          <p:cNvSpPr/>
          <p:nvPr/>
        </p:nvSpPr>
        <p:spPr>
          <a:xfrm>
            <a:off x="825500" y="1600200"/>
            <a:ext cx="5943600" cy="497780"/>
          </a:xfrm>
          <a:custGeom>
            <a:avLst/>
            <a:gdLst/>
            <a:ahLst/>
            <a:cxnLst/>
            <a:rect l="l" t="t" r="r" b="b"/>
            <a:pathLst>
              <a:path w="5943600" h="497780">
                <a:moveTo>
                  <a:pt x="0" y="88900"/>
                </a:moveTo>
                <a:arcTo wR="88900" hR="88900" stAng="10800000" swAng="5400000"/>
                <a:lnTo>
                  <a:pt x="5854700" y="0"/>
                </a:lnTo>
                <a:arcTo wR="88900" hR="88900" stAng="16200000" swAng="5400000"/>
                <a:lnTo>
                  <a:pt x="5943600" y="497780"/>
                </a:lnTo>
                <a:lnTo>
                  <a:pt x="0" y="497780"/>
                </a:lnTo>
                <a:close/>
              </a:path>
            </a:pathLst>
          </a:custGeom>
          <a:solidFill>
            <a:srgbClr val="14213D"/>
          </a:solidFill>
          <a:ln/>
        </p:spPr>
        <p:txBody>
          <a:bodyPr wrap="square" lIns="67818" tIns="88900" rIns="67818" bIns="63500" rtlCol="0" anchor="t">
            <a:normAutofit/>
          </a:bodyPr>
          <a:lstStyle/>
          <a:p>
            <a:pPr marL="0" indent="0" algn="ctr">
              <a:lnSpc>
                <a:spcPts val="2520"/>
              </a:lnSpc>
              <a:buNone/>
            </a:pPr>
            <a:r>
              <a:rPr lang="en-US" sz="1800" b="1" dirty="0">
                <a:solidFill>
                  <a:srgbClr val="F4F1EA"/>
                </a:solidFill>
                <a:latin typeface="Courier New" pitchFamily="49" charset="0"/>
                <a:ea typeface="Courier New" pitchFamily="49" charset="-122"/>
                <a:cs typeface="Courier New" pitchFamily="49" charset="-120"/>
              </a:rPr>
              <a:t>Inventario</a:t>
            </a:r>
            <a:endParaRPr lang="en-US" sz="1800" dirty="0"/>
          </a:p>
        </p:txBody>
      </p:sp>
      <p:sp>
        <p:nvSpPr>
          <p:cNvPr id="5" name="Shape 3"/>
          <p:cNvSpPr/>
          <p:nvPr/>
        </p:nvSpPr>
        <p:spPr>
          <a:xfrm>
            <a:off x="825500" y="2734171"/>
            <a:ext cx="5943600" cy="0"/>
          </a:xfrm>
          <a:prstGeom prst="line">
            <a:avLst/>
          </a:prstGeom>
          <a:noFill/>
          <a:ln w="12700">
            <a:solidFill>
              <a:srgbClr val="14213D"/>
            </a:solidFill>
            <a:prstDash val="solid"/>
          </a:ln>
        </p:spPr>
        <p:txBody>
          <a:bodyPr/>
          <a:lstStyle/>
          <a:p>
            <a:endParaRPr lang="es-GT"/>
          </a:p>
        </p:txBody>
      </p:sp>
      <p:sp>
        <p:nvSpPr>
          <p:cNvPr id="6" name="Text 4"/>
          <p:cNvSpPr/>
          <p:nvPr/>
        </p:nvSpPr>
        <p:spPr>
          <a:xfrm>
            <a:off x="977900" y="2186880"/>
            <a:ext cx="58079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ruta: Path</a:t>
            </a:r>
            <a:endParaRPr lang="en-US" sz="1200" dirty="0"/>
          </a:p>
        </p:txBody>
      </p:sp>
      <p:sp>
        <p:nvSpPr>
          <p:cNvPr id="7" name="Text 5"/>
          <p:cNvSpPr/>
          <p:nvPr/>
        </p:nvSpPr>
        <p:spPr>
          <a:xfrm>
            <a:off x="977900" y="2425601"/>
            <a:ext cx="58079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ENCABEZADOS: dict</a:t>
            </a:r>
            <a:endParaRPr lang="en-US" sz="1200" dirty="0"/>
          </a:p>
        </p:txBody>
      </p:sp>
      <p:sp>
        <p:nvSpPr>
          <p:cNvPr id="8" name="Text 6"/>
          <p:cNvSpPr/>
          <p:nvPr/>
        </p:nvSpPr>
        <p:spPr>
          <a:xfrm>
            <a:off x="977900" y="2829421"/>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agregar_producto()</a:t>
            </a:r>
            <a:endParaRPr lang="en-US" sz="1200" dirty="0"/>
          </a:p>
        </p:txBody>
      </p:sp>
      <p:sp>
        <p:nvSpPr>
          <p:cNvPr id="9" name="Text 7"/>
          <p:cNvSpPr/>
          <p:nvPr/>
        </p:nvSpPr>
        <p:spPr>
          <a:xfrm>
            <a:off x="977900" y="3068141"/>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editar_producto()</a:t>
            </a:r>
            <a:endParaRPr lang="en-US" sz="1200" dirty="0"/>
          </a:p>
        </p:txBody>
      </p:sp>
      <p:sp>
        <p:nvSpPr>
          <p:cNvPr id="10" name="Text 8"/>
          <p:cNvSpPr/>
          <p:nvPr/>
        </p:nvSpPr>
        <p:spPr>
          <a:xfrm>
            <a:off x="977900" y="3306862"/>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eliminar_producto()</a:t>
            </a:r>
            <a:endParaRPr lang="en-US" sz="1200" dirty="0"/>
          </a:p>
        </p:txBody>
      </p:sp>
      <p:sp>
        <p:nvSpPr>
          <p:cNvPr id="11" name="Text 9"/>
          <p:cNvSpPr/>
          <p:nvPr/>
        </p:nvSpPr>
        <p:spPr>
          <a:xfrm>
            <a:off x="977900" y="3545582"/>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agregar_cliente()</a:t>
            </a:r>
            <a:endParaRPr lang="en-US" sz="1200" dirty="0"/>
          </a:p>
        </p:txBody>
      </p:sp>
      <p:sp>
        <p:nvSpPr>
          <p:cNvPr id="12" name="Text 10"/>
          <p:cNvSpPr/>
          <p:nvPr/>
        </p:nvSpPr>
        <p:spPr>
          <a:xfrm>
            <a:off x="977900" y="3784302"/>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editar_cliente()</a:t>
            </a:r>
            <a:endParaRPr lang="en-US" sz="1200" dirty="0"/>
          </a:p>
        </p:txBody>
      </p:sp>
      <p:sp>
        <p:nvSpPr>
          <p:cNvPr id="13" name="Text 11"/>
          <p:cNvSpPr/>
          <p:nvPr/>
        </p:nvSpPr>
        <p:spPr>
          <a:xfrm>
            <a:off x="977900" y="4023023"/>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eliminar_cliente()</a:t>
            </a:r>
            <a:endParaRPr lang="en-US" sz="1200" dirty="0"/>
          </a:p>
        </p:txBody>
      </p:sp>
      <p:sp>
        <p:nvSpPr>
          <p:cNvPr id="14" name="Text 12"/>
          <p:cNvSpPr/>
          <p:nvPr/>
        </p:nvSpPr>
        <p:spPr>
          <a:xfrm>
            <a:off x="977900" y="4261743"/>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agregar_pedido()</a:t>
            </a:r>
            <a:endParaRPr lang="en-US" sz="1200" dirty="0"/>
          </a:p>
        </p:txBody>
      </p:sp>
      <p:sp>
        <p:nvSpPr>
          <p:cNvPr id="15" name="Text 13"/>
          <p:cNvSpPr/>
          <p:nvPr/>
        </p:nvSpPr>
        <p:spPr>
          <a:xfrm>
            <a:off x="3873500" y="2829421"/>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eliminar_pedido()</a:t>
            </a:r>
            <a:endParaRPr lang="en-US" sz="1200" dirty="0"/>
          </a:p>
        </p:txBody>
      </p:sp>
      <p:sp>
        <p:nvSpPr>
          <p:cNvPr id="16" name="Text 14"/>
          <p:cNvSpPr/>
          <p:nvPr/>
        </p:nvSpPr>
        <p:spPr>
          <a:xfrm>
            <a:off x="3873500" y="3068141"/>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informe_clientes()</a:t>
            </a:r>
            <a:endParaRPr lang="en-US" sz="1200" dirty="0"/>
          </a:p>
        </p:txBody>
      </p:sp>
      <p:sp>
        <p:nvSpPr>
          <p:cNvPr id="17" name="Text 15"/>
          <p:cNvSpPr/>
          <p:nvPr/>
        </p:nvSpPr>
        <p:spPr>
          <a:xfrm>
            <a:off x="3873500" y="3306862"/>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informe_productos()</a:t>
            </a:r>
            <a:endParaRPr lang="en-US" sz="1200" dirty="0"/>
          </a:p>
        </p:txBody>
      </p:sp>
      <p:sp>
        <p:nvSpPr>
          <p:cNvPr id="18" name="Text 16"/>
          <p:cNvSpPr/>
          <p:nvPr/>
        </p:nvSpPr>
        <p:spPr>
          <a:xfrm>
            <a:off x="3873500" y="3545582"/>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copia_seguridad()</a:t>
            </a:r>
            <a:endParaRPr lang="en-US" sz="1200" dirty="0"/>
          </a:p>
        </p:txBody>
      </p:sp>
      <p:sp>
        <p:nvSpPr>
          <p:cNvPr id="19" name="Text 17"/>
          <p:cNvSpPr/>
          <p:nvPr/>
        </p:nvSpPr>
        <p:spPr>
          <a:xfrm>
            <a:off x="3873500" y="3784302"/>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productos()</a:t>
            </a:r>
            <a:endParaRPr lang="en-US" sz="1200" dirty="0"/>
          </a:p>
        </p:txBody>
      </p:sp>
      <p:sp>
        <p:nvSpPr>
          <p:cNvPr id="20" name="Text 18"/>
          <p:cNvSpPr/>
          <p:nvPr/>
        </p:nvSpPr>
        <p:spPr>
          <a:xfrm>
            <a:off x="3873500" y="4023023"/>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clientes()</a:t>
            </a:r>
            <a:endParaRPr lang="en-US" sz="1200" dirty="0"/>
          </a:p>
        </p:txBody>
      </p:sp>
      <p:sp>
        <p:nvSpPr>
          <p:cNvPr id="21" name="Text 19"/>
          <p:cNvSpPr/>
          <p:nvPr/>
        </p:nvSpPr>
        <p:spPr>
          <a:xfrm>
            <a:off x="3873500" y="4261743"/>
            <a:ext cx="28254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pedidos()</a:t>
            </a:r>
            <a:endParaRPr lang="en-US" sz="1200" dirty="0"/>
          </a:p>
        </p:txBody>
      </p:sp>
      <p:sp>
        <p:nvSpPr>
          <p:cNvPr id="22" name="Text 20"/>
          <p:cNvSpPr/>
          <p:nvPr/>
        </p:nvSpPr>
        <p:spPr>
          <a:xfrm>
            <a:off x="812800" y="5207000"/>
            <a:ext cx="68072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Los errores de validación se lanzan como </a:t>
            </a:r>
            <a:r>
              <a:rPr lang="en-US" sz="1300" dirty="0">
                <a:solidFill>
                  <a:srgbClr val="14213D"/>
                </a:solidFill>
                <a:latin typeface="Arial" pitchFamily="34" charset="0"/>
                <a:ea typeface="Arial" pitchFamily="34" charset="-122"/>
                <a:cs typeface="Arial" pitchFamily="34" charset="-120"/>
              </a:rPr>
              <a:t>ErrorDatos</a:t>
            </a:r>
            <a:r>
              <a:rPr lang="en-US" sz="1300" dirty="0">
                <a:solidFill>
                  <a:srgbClr val="4A5568"/>
                </a:solidFill>
                <a:latin typeface="Arial" pitchFamily="34" charset="0"/>
                <a:ea typeface="Arial" pitchFamily="34" charset="-122"/>
                <a:cs typeface="Arial" pitchFamily="34" charset="-120"/>
              </a:rPr>
              <a:t>, que hereda de </a:t>
            </a:r>
            <a:r>
              <a:rPr lang="en-US" sz="1300" dirty="0">
                <a:solidFill>
                  <a:srgbClr val="14213D"/>
                </a:solidFill>
                <a:latin typeface="Arial" pitchFamily="34" charset="0"/>
                <a:ea typeface="Arial" pitchFamily="34" charset="-122"/>
                <a:cs typeface="Arial" pitchFamily="34" charset="-120"/>
              </a:rPr>
              <a:t>ValueError</a:t>
            </a:r>
            <a:r>
              <a:rPr lang="en-US" sz="1300" dirty="0">
                <a:solidFill>
                  <a:srgbClr val="4A5568"/>
                </a:solidFill>
                <a:latin typeface="Arial" pitchFamily="34" charset="0"/>
                <a:ea typeface="Arial" pitchFamily="34" charset="-122"/>
                <a:cs typeface="Arial" pitchFamily="34" charset="-120"/>
              </a:rPr>
              <a:t>.</a:t>
            </a:r>
            <a:endParaRPr lang="en-US" sz="1300" dirty="0"/>
          </a:p>
        </p:txBody>
      </p:sp>
      <p:sp>
        <p:nvSpPr>
          <p:cNvPr id="23" name="Shape 21"/>
          <p:cNvSpPr/>
          <p:nvPr/>
        </p:nvSpPr>
        <p:spPr>
          <a:xfrm>
            <a:off x="7626350" y="1593850"/>
            <a:ext cx="3746500" cy="1765102"/>
          </a:xfrm>
          <a:prstGeom prst="roundRect">
            <a:avLst>
              <a:gd name="adj" fmla="val 5396"/>
            </a:avLst>
          </a:prstGeom>
          <a:solidFill>
            <a:srgbClr val="FDFCF8"/>
          </a:solidFill>
          <a:ln w="12700">
            <a:solidFill>
              <a:srgbClr val="14213D"/>
            </a:solidFill>
            <a:prstDash val="solid"/>
          </a:ln>
        </p:spPr>
        <p:txBody>
          <a:bodyPr/>
          <a:lstStyle/>
          <a:p>
            <a:endParaRPr lang="es-GT"/>
          </a:p>
        </p:txBody>
      </p:sp>
      <p:sp>
        <p:nvSpPr>
          <p:cNvPr id="24" name="Text 22"/>
          <p:cNvSpPr/>
          <p:nvPr/>
        </p:nvSpPr>
        <p:spPr>
          <a:xfrm>
            <a:off x="7632700" y="1600200"/>
            <a:ext cx="3733800" cy="480020"/>
          </a:xfrm>
          <a:custGeom>
            <a:avLst/>
            <a:gdLst/>
            <a:ahLst/>
            <a:cxnLst/>
            <a:rect l="l" t="t" r="r" b="b"/>
            <a:pathLst>
              <a:path w="3733800" h="480020">
                <a:moveTo>
                  <a:pt x="0" y="88900"/>
                </a:moveTo>
                <a:arcTo wR="88900" hR="88900" stAng="10800000" swAng="5400000"/>
                <a:lnTo>
                  <a:pt x="3644900" y="0"/>
                </a:lnTo>
                <a:arcTo wR="88900" hR="88900" stAng="16200000" swAng="5400000"/>
                <a:lnTo>
                  <a:pt x="3733800" y="480020"/>
                </a:lnTo>
                <a:lnTo>
                  <a:pt x="0" y="480020"/>
                </a:lnTo>
                <a:close/>
              </a:path>
            </a:pathLst>
          </a:custGeom>
          <a:solidFill>
            <a:srgbClr val="0B7285"/>
          </a:solidFill>
          <a:ln/>
        </p:spPr>
        <p:txBody>
          <a:bodyPr wrap="square" lIns="100965" tIns="88900" rIns="100965" bIns="63500" rtlCol="0" anchor="t">
            <a:normAutofit/>
          </a:bodyPr>
          <a:lstStyle/>
          <a:p>
            <a:pPr marL="0" indent="0" algn="ctr">
              <a:lnSpc>
                <a:spcPts val="2380"/>
              </a:lnSpc>
              <a:buNone/>
            </a:pPr>
            <a:r>
              <a:rPr lang="en-US" sz="1700" b="1" dirty="0">
                <a:solidFill>
                  <a:srgbClr val="F4F1EA"/>
                </a:solidFill>
                <a:latin typeface="Courier New" pitchFamily="49" charset="0"/>
                <a:ea typeface="Courier New" pitchFamily="49" charset="-122"/>
                <a:cs typeface="Courier New" pitchFamily="49" charset="-120"/>
              </a:rPr>
              <a:t>Aplicacion</a:t>
            </a:r>
            <a:endParaRPr lang="en-US" sz="1700" dirty="0"/>
          </a:p>
        </p:txBody>
      </p:sp>
      <p:sp>
        <p:nvSpPr>
          <p:cNvPr id="25" name="Shape 23"/>
          <p:cNvSpPr/>
          <p:nvPr/>
        </p:nvSpPr>
        <p:spPr>
          <a:xfrm>
            <a:off x="7632700" y="2477691"/>
            <a:ext cx="3733800" cy="0"/>
          </a:xfrm>
          <a:prstGeom prst="line">
            <a:avLst/>
          </a:prstGeom>
          <a:noFill/>
          <a:ln w="12700">
            <a:solidFill>
              <a:srgbClr val="14213D"/>
            </a:solidFill>
            <a:prstDash val="solid"/>
          </a:ln>
        </p:spPr>
        <p:txBody>
          <a:bodyPr/>
          <a:lstStyle/>
          <a:p>
            <a:endParaRPr lang="es-GT"/>
          </a:p>
        </p:txBody>
      </p:sp>
      <p:sp>
        <p:nvSpPr>
          <p:cNvPr id="26" name="Text 24"/>
          <p:cNvSpPr/>
          <p:nvPr/>
        </p:nvSpPr>
        <p:spPr>
          <a:xfrm>
            <a:off x="7785100" y="2169120"/>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hereda de tk.Tk</a:t>
            </a:r>
            <a:endParaRPr lang="en-US" sz="1200" dirty="0"/>
          </a:p>
        </p:txBody>
      </p:sp>
      <p:sp>
        <p:nvSpPr>
          <p:cNvPr id="27" name="Text 25"/>
          <p:cNvSpPr/>
          <p:nvPr/>
        </p:nvSpPr>
        <p:spPr>
          <a:xfrm>
            <a:off x="7785100" y="257294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refrescar()</a:t>
            </a:r>
            <a:endParaRPr lang="en-US" sz="1200" dirty="0"/>
          </a:p>
        </p:txBody>
      </p:sp>
      <p:sp>
        <p:nvSpPr>
          <p:cNvPr id="28" name="Text 26"/>
          <p:cNvSpPr/>
          <p:nvPr/>
        </p:nvSpPr>
        <p:spPr>
          <a:xfrm>
            <a:off x="7785100" y="281166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_cotizacion()</a:t>
            </a:r>
            <a:endParaRPr lang="en-US" sz="1200" dirty="0"/>
          </a:p>
        </p:txBody>
      </p:sp>
      <p:sp>
        <p:nvSpPr>
          <p:cNvPr id="29" name="Text 27"/>
          <p:cNvSpPr/>
          <p:nvPr/>
        </p:nvSpPr>
        <p:spPr>
          <a:xfrm>
            <a:off x="7785100" y="305038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_respaldo()</a:t>
            </a:r>
            <a:endParaRPr lang="en-US" sz="1200" dirty="0"/>
          </a:p>
        </p:txBody>
      </p:sp>
      <p:sp>
        <p:nvSpPr>
          <p:cNvPr id="30" name="Shape 28"/>
          <p:cNvSpPr/>
          <p:nvPr/>
        </p:nvSpPr>
        <p:spPr>
          <a:xfrm>
            <a:off x="7626350" y="3879850"/>
            <a:ext cx="3746500" cy="1600002"/>
          </a:xfrm>
          <a:prstGeom prst="roundRect">
            <a:avLst>
              <a:gd name="adj" fmla="val 5953"/>
            </a:avLst>
          </a:prstGeom>
          <a:solidFill>
            <a:srgbClr val="FDFCF8"/>
          </a:solidFill>
          <a:ln w="12700">
            <a:solidFill>
              <a:srgbClr val="14213D"/>
            </a:solidFill>
            <a:prstDash val="solid"/>
          </a:ln>
        </p:spPr>
        <p:txBody>
          <a:bodyPr/>
          <a:lstStyle/>
          <a:p>
            <a:endParaRPr lang="es-GT"/>
          </a:p>
        </p:txBody>
      </p:sp>
      <p:sp>
        <p:nvSpPr>
          <p:cNvPr id="31" name="Text 29"/>
          <p:cNvSpPr/>
          <p:nvPr/>
        </p:nvSpPr>
        <p:spPr>
          <a:xfrm>
            <a:off x="7632700" y="3886200"/>
            <a:ext cx="3733800" cy="480020"/>
          </a:xfrm>
          <a:custGeom>
            <a:avLst/>
            <a:gdLst/>
            <a:ahLst/>
            <a:cxnLst/>
            <a:rect l="l" t="t" r="r" b="b"/>
            <a:pathLst>
              <a:path w="3733800" h="480020">
                <a:moveTo>
                  <a:pt x="0" y="88900"/>
                </a:moveTo>
                <a:arcTo wR="88900" hR="88900" stAng="10800000" swAng="5400000"/>
                <a:lnTo>
                  <a:pt x="3644900" y="0"/>
                </a:lnTo>
                <a:arcTo wR="88900" hR="88900" stAng="16200000" swAng="5400000"/>
                <a:lnTo>
                  <a:pt x="3733800" y="480020"/>
                </a:lnTo>
                <a:lnTo>
                  <a:pt x="0" y="480020"/>
                </a:lnTo>
                <a:close/>
              </a:path>
            </a:pathLst>
          </a:custGeom>
          <a:solidFill>
            <a:srgbClr val="0B7285"/>
          </a:solidFill>
          <a:ln/>
        </p:spPr>
        <p:txBody>
          <a:bodyPr wrap="square" lIns="100965" tIns="88900" rIns="100965" bIns="63500" rtlCol="0" anchor="t">
            <a:normAutofit/>
          </a:bodyPr>
          <a:lstStyle/>
          <a:p>
            <a:pPr marL="0" indent="0" algn="ctr">
              <a:lnSpc>
                <a:spcPts val="2380"/>
              </a:lnSpc>
              <a:buNone/>
            </a:pPr>
            <a:r>
              <a:rPr lang="en-US" sz="1700" b="1" dirty="0">
                <a:solidFill>
                  <a:srgbClr val="F4F1EA"/>
                </a:solidFill>
                <a:latin typeface="Courier New" pitchFamily="49" charset="0"/>
                <a:ea typeface="Courier New" pitchFamily="49" charset="-122"/>
                <a:cs typeface="Courier New" pitchFamily="49" charset="-120"/>
              </a:rPr>
              <a:t>correos.py</a:t>
            </a:r>
            <a:endParaRPr lang="en-US" sz="1700" dirty="0"/>
          </a:p>
        </p:txBody>
      </p:sp>
      <p:sp>
        <p:nvSpPr>
          <p:cNvPr id="32" name="Text 30"/>
          <p:cNvSpPr/>
          <p:nvPr/>
        </p:nvSpPr>
        <p:spPr>
          <a:xfrm>
            <a:off x="7785100" y="4455120"/>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crear_cotizacion()</a:t>
            </a:r>
            <a:endParaRPr lang="en-US" sz="1200" dirty="0"/>
          </a:p>
        </p:txBody>
      </p:sp>
      <p:sp>
        <p:nvSpPr>
          <p:cNvPr id="33" name="Text 31"/>
          <p:cNvSpPr/>
          <p:nvPr/>
        </p:nvSpPr>
        <p:spPr>
          <a:xfrm>
            <a:off x="7785100" y="469384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enviar_correo()</a:t>
            </a:r>
            <a:endParaRPr lang="en-US" sz="1200" dirty="0"/>
          </a:p>
        </p:txBody>
      </p:sp>
      <p:sp>
        <p:nvSpPr>
          <p:cNvPr id="34" name="Text 32"/>
          <p:cNvSpPr/>
          <p:nvPr/>
        </p:nvSpPr>
        <p:spPr>
          <a:xfrm>
            <a:off x="7785100" y="493256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configurado()</a:t>
            </a:r>
            <a:endParaRPr lang="en-US" sz="1200" dirty="0"/>
          </a:p>
        </p:txBody>
      </p:sp>
      <p:sp>
        <p:nvSpPr>
          <p:cNvPr id="35" name="Text 33"/>
          <p:cNvSpPr/>
          <p:nvPr/>
        </p:nvSpPr>
        <p:spPr>
          <a:xfrm>
            <a:off x="7785100" y="5171281"/>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correo_valido()</a:t>
            </a:r>
            <a:endParaRPr lang="en-US" sz="1200" dirty="0"/>
          </a:p>
        </p:txBody>
      </p:sp>
      <p:pic>
        <p:nvPicPr>
          <p:cNvPr id="36" name="Image 0" descr="connector"/>
          <p:cNvPicPr>
            <a:picLocks noChangeAspect="1"/>
          </p:cNvPicPr>
          <p:nvPr/>
        </p:nvPicPr>
        <p:blipFill>
          <a:blip r:embed="rId3"/>
          <a:srcRect/>
          <a:stretch/>
        </p:blipFill>
        <p:spPr>
          <a:xfrm>
            <a:off x="6731000" y="2489200"/>
            <a:ext cx="939800" cy="101600"/>
          </a:xfrm>
          <a:prstGeom prst="rect">
            <a:avLst/>
          </a:prstGeom>
        </p:spPr>
      </p:pic>
      <p:sp>
        <p:nvSpPr>
          <p:cNvPr id="37" name="Text 34"/>
          <p:cNvSpPr/>
          <p:nvPr/>
        </p:nvSpPr>
        <p:spPr>
          <a:xfrm>
            <a:off x="6819900" y="2222500"/>
            <a:ext cx="7620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B4530F"/>
                </a:solidFill>
                <a:latin typeface="Arial" pitchFamily="34" charset="0"/>
                <a:ea typeface="Arial" pitchFamily="34" charset="-122"/>
                <a:cs typeface="Arial" pitchFamily="34" charset="-120"/>
              </a:rPr>
              <a:t>usa</a:t>
            </a:r>
            <a:endParaRPr lang="en-US" sz="1300" dirty="0"/>
          </a:p>
        </p:txBody>
      </p:sp>
      <p:pic>
        <p:nvPicPr>
          <p:cNvPr id="38" name="Image 1" descr="connector"/>
          <p:cNvPicPr>
            <a:picLocks noChangeAspect="1"/>
          </p:cNvPicPr>
          <p:nvPr/>
        </p:nvPicPr>
        <p:blipFill>
          <a:blip r:embed="rId4"/>
          <a:srcRect/>
          <a:stretch/>
        </p:blipFill>
        <p:spPr>
          <a:xfrm>
            <a:off x="9448800" y="3378200"/>
            <a:ext cx="101600" cy="546100"/>
          </a:xfrm>
          <a:prstGeom prst="rect">
            <a:avLst/>
          </a:prstGeom>
        </p:spPr>
      </p:pic>
      <p:sp>
        <p:nvSpPr>
          <p:cNvPr id="39" name="Text 35"/>
          <p:cNvSpPr/>
          <p:nvPr/>
        </p:nvSpPr>
        <p:spPr>
          <a:xfrm>
            <a:off x="9626600" y="3524250"/>
            <a:ext cx="812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4530F"/>
                </a:solidFill>
                <a:latin typeface="Arial" pitchFamily="34" charset="0"/>
                <a:ea typeface="Arial" pitchFamily="34" charset="-122"/>
                <a:cs typeface="Arial" pitchFamily="34" charset="-120"/>
              </a:rPr>
              <a:t>usa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Arial" pitchFamily="34" charset="0"/>
                <a:ea typeface="Arial" pitchFamily="34" charset="-122"/>
                <a:cs typeface="Arial" pitchFamily="34" charset="-120"/>
              </a:rPr>
              <a:t>Cotización y copia de seguridad</a:t>
            </a:r>
            <a:endParaRPr lang="en-US" sz="3600" dirty="0"/>
          </a:p>
        </p:txBody>
      </p:sp>
      <p:sp>
        <p:nvSpPr>
          <p:cNvPr id="3" name="Text 1"/>
          <p:cNvSpPr/>
          <p:nvPr/>
        </p:nvSpPr>
        <p:spPr>
          <a:xfrm>
            <a:off x="812800" y="151884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7285"/>
                </a:solidFill>
                <a:latin typeface="Arial" pitchFamily="34" charset="0"/>
                <a:ea typeface="Arial" pitchFamily="34" charset="-122"/>
                <a:cs typeface="Arial" pitchFamily="34" charset="-120"/>
              </a:rPr>
              <a:t>Enviar cotización por correo</a:t>
            </a:r>
            <a:endParaRPr lang="en-US" sz="1600" dirty="0"/>
          </a:p>
        </p:txBody>
      </p:sp>
      <p:sp>
        <p:nvSpPr>
          <p:cNvPr id="4" name="Shape 2"/>
          <p:cNvSpPr/>
          <p:nvPr/>
        </p:nvSpPr>
        <p:spPr>
          <a:xfrm>
            <a:off x="819150" y="2012851"/>
            <a:ext cx="2247900" cy="1074241"/>
          </a:xfrm>
          <a:prstGeom prst="roundRect">
            <a:avLst>
              <a:gd name="adj" fmla="val 8867"/>
            </a:avLst>
          </a:prstGeom>
          <a:solidFill>
            <a:srgbClr val="FDFCF8"/>
          </a:solidFill>
          <a:ln w="12700">
            <a:solidFill>
              <a:srgbClr val="14213D"/>
            </a:solidFill>
            <a:prstDash val="solid"/>
          </a:ln>
        </p:spPr>
        <p:txBody>
          <a:bodyPr/>
          <a:lstStyle/>
          <a:p>
            <a:endParaRPr lang="es-GT"/>
          </a:p>
        </p:txBody>
      </p:sp>
      <p:sp>
        <p:nvSpPr>
          <p:cNvPr id="5" name="Text 3"/>
          <p:cNvSpPr/>
          <p:nvPr/>
        </p:nvSpPr>
        <p:spPr>
          <a:xfrm>
            <a:off x="977900" y="2171601"/>
            <a:ext cx="19883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1. Pedir datos</a:t>
            </a:r>
            <a:endParaRPr lang="en-US" sz="1600" dirty="0"/>
          </a:p>
        </p:txBody>
      </p:sp>
      <p:sp>
        <p:nvSpPr>
          <p:cNvPr id="6" name="Text 4"/>
          <p:cNvSpPr/>
          <p:nvPr/>
        </p:nvSpPr>
        <p:spPr>
          <a:xfrm>
            <a:off x="977900" y="2466181"/>
            <a:ext cx="19883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Nombre y correo del cliente, producto elegido.</a:t>
            </a:r>
            <a:endParaRPr lang="en-US" sz="1300" dirty="0"/>
          </a:p>
        </p:txBody>
      </p:sp>
      <p:pic>
        <p:nvPicPr>
          <p:cNvPr id="7" name="Image 0" descr="arrow-right"/>
          <p:cNvPicPr>
            <a:picLocks noChangeAspect="1"/>
          </p:cNvPicPr>
          <p:nvPr/>
        </p:nvPicPr>
        <p:blipFill>
          <a:blip r:embed="rId3"/>
          <a:srcRect/>
          <a:stretch/>
        </p:blipFill>
        <p:spPr>
          <a:xfrm>
            <a:off x="3149600" y="2448322"/>
            <a:ext cx="355600" cy="203200"/>
          </a:xfrm>
          <a:prstGeom prst="rect">
            <a:avLst/>
          </a:prstGeom>
        </p:spPr>
      </p:pic>
      <p:sp>
        <p:nvSpPr>
          <p:cNvPr id="8" name="Shape 5"/>
          <p:cNvSpPr/>
          <p:nvPr/>
        </p:nvSpPr>
        <p:spPr>
          <a:xfrm>
            <a:off x="3587750" y="2012851"/>
            <a:ext cx="2247900" cy="1074241"/>
          </a:xfrm>
          <a:prstGeom prst="roundRect">
            <a:avLst>
              <a:gd name="adj" fmla="val 8867"/>
            </a:avLst>
          </a:prstGeom>
          <a:solidFill>
            <a:srgbClr val="FDFCF8"/>
          </a:solidFill>
          <a:ln w="12700">
            <a:solidFill>
              <a:srgbClr val="14213D"/>
            </a:solidFill>
            <a:prstDash val="solid"/>
          </a:ln>
        </p:spPr>
        <p:txBody>
          <a:bodyPr/>
          <a:lstStyle/>
          <a:p>
            <a:endParaRPr lang="es-GT"/>
          </a:p>
        </p:txBody>
      </p:sp>
      <p:sp>
        <p:nvSpPr>
          <p:cNvPr id="9" name="Text 6"/>
          <p:cNvSpPr/>
          <p:nvPr/>
        </p:nvSpPr>
        <p:spPr>
          <a:xfrm>
            <a:off x="3746500" y="2171601"/>
            <a:ext cx="19883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2. Validar</a:t>
            </a:r>
            <a:endParaRPr lang="en-US" sz="1600" dirty="0"/>
          </a:p>
        </p:txBody>
      </p:sp>
      <p:sp>
        <p:nvSpPr>
          <p:cNvPr id="10" name="Text 7"/>
          <p:cNvSpPr/>
          <p:nvPr/>
        </p:nvSpPr>
        <p:spPr>
          <a:xfrm>
            <a:off x="3746500" y="2466181"/>
            <a:ext cx="19883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Correo con formato válido y producto existente.</a:t>
            </a:r>
            <a:endParaRPr lang="en-US" sz="1300" dirty="0"/>
          </a:p>
        </p:txBody>
      </p:sp>
      <p:pic>
        <p:nvPicPr>
          <p:cNvPr id="11" name="Image 1" descr="arrow-right"/>
          <p:cNvPicPr>
            <a:picLocks noChangeAspect="1"/>
          </p:cNvPicPr>
          <p:nvPr/>
        </p:nvPicPr>
        <p:blipFill>
          <a:blip r:embed="rId3"/>
          <a:srcRect/>
          <a:stretch/>
        </p:blipFill>
        <p:spPr>
          <a:xfrm>
            <a:off x="5918200" y="2448322"/>
            <a:ext cx="355600" cy="203200"/>
          </a:xfrm>
          <a:prstGeom prst="rect">
            <a:avLst/>
          </a:prstGeom>
        </p:spPr>
      </p:pic>
      <p:sp>
        <p:nvSpPr>
          <p:cNvPr id="12" name="Shape 8"/>
          <p:cNvSpPr/>
          <p:nvPr/>
        </p:nvSpPr>
        <p:spPr>
          <a:xfrm>
            <a:off x="6356350" y="2012851"/>
            <a:ext cx="2247900" cy="1074241"/>
          </a:xfrm>
          <a:prstGeom prst="roundRect">
            <a:avLst>
              <a:gd name="adj" fmla="val 8867"/>
            </a:avLst>
          </a:prstGeom>
          <a:solidFill>
            <a:srgbClr val="FDFCF8"/>
          </a:solidFill>
          <a:ln w="12700">
            <a:solidFill>
              <a:srgbClr val="14213D"/>
            </a:solidFill>
            <a:prstDash val="solid"/>
          </a:ln>
        </p:spPr>
        <p:txBody>
          <a:bodyPr/>
          <a:lstStyle/>
          <a:p>
            <a:endParaRPr lang="es-GT"/>
          </a:p>
        </p:txBody>
      </p:sp>
      <p:sp>
        <p:nvSpPr>
          <p:cNvPr id="13" name="Text 9"/>
          <p:cNvSpPr/>
          <p:nvPr/>
        </p:nvSpPr>
        <p:spPr>
          <a:xfrm>
            <a:off x="6515100" y="2171601"/>
            <a:ext cx="19883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3. Crear Word</a:t>
            </a:r>
            <a:endParaRPr lang="en-US" sz="1600" dirty="0"/>
          </a:p>
        </p:txBody>
      </p:sp>
      <p:sp>
        <p:nvSpPr>
          <p:cNvPr id="14" name="Text 10"/>
          <p:cNvSpPr/>
          <p:nvPr/>
        </p:nvSpPr>
        <p:spPr>
          <a:xfrm>
            <a:off x="6515100" y="2466181"/>
            <a:ext cx="19883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cotización.docx con cliente, producto y precio.</a:t>
            </a:r>
            <a:endParaRPr lang="en-US" sz="1300" dirty="0"/>
          </a:p>
        </p:txBody>
      </p:sp>
      <p:pic>
        <p:nvPicPr>
          <p:cNvPr id="15" name="Image 2" descr="arrow-right"/>
          <p:cNvPicPr>
            <a:picLocks noChangeAspect="1"/>
          </p:cNvPicPr>
          <p:nvPr/>
        </p:nvPicPr>
        <p:blipFill>
          <a:blip r:embed="rId3"/>
          <a:srcRect/>
          <a:stretch/>
        </p:blipFill>
        <p:spPr>
          <a:xfrm>
            <a:off x="8686800" y="2448322"/>
            <a:ext cx="355600" cy="203200"/>
          </a:xfrm>
          <a:prstGeom prst="rect">
            <a:avLst/>
          </a:prstGeom>
        </p:spPr>
      </p:pic>
      <p:sp>
        <p:nvSpPr>
          <p:cNvPr id="16" name="Shape 11"/>
          <p:cNvSpPr/>
          <p:nvPr/>
        </p:nvSpPr>
        <p:spPr>
          <a:xfrm>
            <a:off x="9124950" y="2012851"/>
            <a:ext cx="2247900" cy="1074241"/>
          </a:xfrm>
          <a:prstGeom prst="roundRect">
            <a:avLst>
              <a:gd name="adj" fmla="val 8867"/>
            </a:avLst>
          </a:prstGeom>
          <a:solidFill>
            <a:srgbClr val="FDFCF8"/>
          </a:solidFill>
          <a:ln w="12700">
            <a:solidFill>
              <a:srgbClr val="14213D"/>
            </a:solidFill>
            <a:prstDash val="solid"/>
          </a:ln>
        </p:spPr>
        <p:txBody>
          <a:bodyPr/>
          <a:lstStyle/>
          <a:p>
            <a:endParaRPr lang="es-GT"/>
          </a:p>
        </p:txBody>
      </p:sp>
      <p:sp>
        <p:nvSpPr>
          <p:cNvPr id="17" name="Text 12"/>
          <p:cNvSpPr/>
          <p:nvPr/>
        </p:nvSpPr>
        <p:spPr>
          <a:xfrm>
            <a:off x="9283700" y="2171601"/>
            <a:ext cx="19883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4. Enviar</a:t>
            </a:r>
            <a:endParaRPr lang="en-US" sz="1600" dirty="0"/>
          </a:p>
        </p:txBody>
      </p:sp>
      <p:sp>
        <p:nvSpPr>
          <p:cNvPr id="18" name="Text 13"/>
          <p:cNvSpPr/>
          <p:nvPr/>
        </p:nvSpPr>
        <p:spPr>
          <a:xfrm>
            <a:off x="9283700" y="2466181"/>
            <a:ext cx="19883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Correo SMTP con el Word adjunto.</a:t>
            </a:r>
            <a:endParaRPr lang="en-US" sz="1300" dirty="0"/>
          </a:p>
        </p:txBody>
      </p:sp>
      <p:sp>
        <p:nvSpPr>
          <p:cNvPr id="19" name="Text 14"/>
          <p:cNvSpPr/>
          <p:nvPr/>
        </p:nvSpPr>
        <p:spPr>
          <a:xfrm>
            <a:off x="832104" y="3461049"/>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7285"/>
                </a:solidFill>
                <a:latin typeface="Arial" pitchFamily="34" charset="0"/>
                <a:ea typeface="Arial" pitchFamily="34" charset="-122"/>
                <a:cs typeface="Arial" pitchFamily="34" charset="-120"/>
              </a:rPr>
              <a:t>Crear copia de seguridad</a:t>
            </a:r>
            <a:endParaRPr lang="en-US" sz="1600" dirty="0"/>
          </a:p>
        </p:txBody>
      </p:sp>
      <p:sp>
        <p:nvSpPr>
          <p:cNvPr id="20" name="Shape 15"/>
          <p:cNvSpPr/>
          <p:nvPr/>
        </p:nvSpPr>
        <p:spPr>
          <a:xfrm>
            <a:off x="819150" y="4021733"/>
            <a:ext cx="2247900" cy="843161"/>
          </a:xfrm>
          <a:prstGeom prst="roundRect">
            <a:avLst>
              <a:gd name="adj" fmla="val 11297"/>
            </a:avLst>
          </a:prstGeom>
          <a:solidFill>
            <a:srgbClr val="FDFCF8"/>
          </a:solidFill>
          <a:ln w="12700">
            <a:solidFill>
              <a:srgbClr val="14213D"/>
            </a:solidFill>
            <a:prstDash val="solid"/>
          </a:ln>
        </p:spPr>
        <p:txBody>
          <a:bodyPr/>
          <a:lstStyle/>
          <a:p>
            <a:endParaRPr lang="es-GT"/>
          </a:p>
        </p:txBody>
      </p:sp>
      <p:sp>
        <p:nvSpPr>
          <p:cNvPr id="21" name="Text 16"/>
          <p:cNvSpPr/>
          <p:nvPr/>
        </p:nvSpPr>
        <p:spPr>
          <a:xfrm>
            <a:off x="977900" y="4180483"/>
            <a:ext cx="19883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1. Copiar</a:t>
            </a:r>
            <a:endParaRPr lang="en-US" sz="1600" dirty="0"/>
          </a:p>
        </p:txBody>
      </p:sp>
      <p:sp>
        <p:nvSpPr>
          <p:cNvPr id="22" name="Text 17"/>
          <p:cNvSpPr/>
          <p:nvPr/>
        </p:nvSpPr>
        <p:spPr>
          <a:xfrm>
            <a:off x="977900" y="4475063"/>
            <a:ext cx="198831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Inventario.xlsx completo.</a:t>
            </a:r>
            <a:endParaRPr lang="en-US" sz="1300" dirty="0"/>
          </a:p>
        </p:txBody>
      </p:sp>
      <p:pic>
        <p:nvPicPr>
          <p:cNvPr id="23" name="Image 3" descr="arrow-right"/>
          <p:cNvPicPr>
            <a:picLocks noChangeAspect="1"/>
          </p:cNvPicPr>
          <p:nvPr/>
        </p:nvPicPr>
        <p:blipFill>
          <a:blip r:embed="rId3"/>
          <a:srcRect/>
          <a:stretch/>
        </p:blipFill>
        <p:spPr>
          <a:xfrm>
            <a:off x="3149600" y="4341713"/>
            <a:ext cx="355600" cy="203200"/>
          </a:xfrm>
          <a:prstGeom prst="rect">
            <a:avLst/>
          </a:prstGeom>
        </p:spPr>
      </p:pic>
      <p:sp>
        <p:nvSpPr>
          <p:cNvPr id="24" name="Shape 18"/>
          <p:cNvSpPr/>
          <p:nvPr/>
        </p:nvSpPr>
        <p:spPr>
          <a:xfrm>
            <a:off x="3587750" y="3906143"/>
            <a:ext cx="2247900" cy="1074241"/>
          </a:xfrm>
          <a:prstGeom prst="roundRect">
            <a:avLst>
              <a:gd name="adj" fmla="val 8867"/>
            </a:avLst>
          </a:prstGeom>
          <a:solidFill>
            <a:srgbClr val="FDFCF8"/>
          </a:solidFill>
          <a:ln w="12700">
            <a:solidFill>
              <a:srgbClr val="14213D"/>
            </a:solidFill>
            <a:prstDash val="solid"/>
          </a:ln>
        </p:spPr>
        <p:txBody>
          <a:bodyPr/>
          <a:lstStyle/>
          <a:p>
            <a:endParaRPr lang="es-GT"/>
          </a:p>
        </p:txBody>
      </p:sp>
      <p:sp>
        <p:nvSpPr>
          <p:cNvPr id="25" name="Text 19"/>
          <p:cNvSpPr/>
          <p:nvPr/>
        </p:nvSpPr>
        <p:spPr>
          <a:xfrm>
            <a:off x="3746500" y="4064893"/>
            <a:ext cx="19883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2. Guardar</a:t>
            </a:r>
            <a:endParaRPr lang="en-US" sz="1600" dirty="0"/>
          </a:p>
        </p:txBody>
      </p:sp>
      <p:sp>
        <p:nvSpPr>
          <p:cNvPr id="26" name="Text 20"/>
          <p:cNvSpPr/>
          <p:nvPr/>
        </p:nvSpPr>
        <p:spPr>
          <a:xfrm>
            <a:off x="3746500" y="4359473"/>
            <a:ext cx="19883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Copia en la carpeta respaldos.</a:t>
            </a:r>
            <a:endParaRPr lang="en-US" sz="1300" dirty="0"/>
          </a:p>
        </p:txBody>
      </p:sp>
      <p:pic>
        <p:nvPicPr>
          <p:cNvPr id="27" name="Image 4" descr="arrow-right"/>
          <p:cNvPicPr>
            <a:picLocks noChangeAspect="1"/>
          </p:cNvPicPr>
          <p:nvPr/>
        </p:nvPicPr>
        <p:blipFill>
          <a:blip r:embed="rId3"/>
          <a:srcRect/>
          <a:stretch/>
        </p:blipFill>
        <p:spPr>
          <a:xfrm>
            <a:off x="5918200" y="4341713"/>
            <a:ext cx="355600" cy="203200"/>
          </a:xfrm>
          <a:prstGeom prst="rect">
            <a:avLst/>
          </a:prstGeom>
        </p:spPr>
      </p:pic>
      <p:sp>
        <p:nvSpPr>
          <p:cNvPr id="28" name="Shape 21"/>
          <p:cNvSpPr/>
          <p:nvPr/>
        </p:nvSpPr>
        <p:spPr>
          <a:xfrm>
            <a:off x="6356350" y="3906143"/>
            <a:ext cx="2247900" cy="1074241"/>
          </a:xfrm>
          <a:prstGeom prst="roundRect">
            <a:avLst>
              <a:gd name="adj" fmla="val 8867"/>
            </a:avLst>
          </a:prstGeom>
          <a:solidFill>
            <a:srgbClr val="FDFCF8"/>
          </a:solidFill>
          <a:ln w="12700">
            <a:solidFill>
              <a:srgbClr val="14213D"/>
            </a:solidFill>
            <a:prstDash val="solid"/>
          </a:ln>
        </p:spPr>
        <p:txBody>
          <a:bodyPr/>
          <a:lstStyle/>
          <a:p>
            <a:endParaRPr lang="es-GT"/>
          </a:p>
        </p:txBody>
      </p:sp>
      <p:sp>
        <p:nvSpPr>
          <p:cNvPr id="29" name="Text 22"/>
          <p:cNvSpPr/>
          <p:nvPr/>
        </p:nvSpPr>
        <p:spPr>
          <a:xfrm>
            <a:off x="6515100" y="4064893"/>
            <a:ext cx="19883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3. Enviar</a:t>
            </a:r>
            <a:endParaRPr lang="en-US" sz="1600" dirty="0"/>
          </a:p>
        </p:txBody>
      </p:sp>
      <p:sp>
        <p:nvSpPr>
          <p:cNvPr id="30" name="Text 23"/>
          <p:cNvSpPr/>
          <p:nvPr/>
        </p:nvSpPr>
        <p:spPr>
          <a:xfrm>
            <a:off x="6515100" y="4359473"/>
            <a:ext cx="19883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Por correo al coordinador del grupo.</a:t>
            </a:r>
            <a:endParaRPr lang="en-US" sz="1300" dirty="0"/>
          </a:p>
        </p:txBody>
      </p:sp>
      <p:pic>
        <p:nvPicPr>
          <p:cNvPr id="31" name="Image 5" descr="arrow-right"/>
          <p:cNvPicPr>
            <a:picLocks noChangeAspect="1"/>
          </p:cNvPicPr>
          <p:nvPr/>
        </p:nvPicPr>
        <p:blipFill>
          <a:blip r:embed="rId3"/>
          <a:srcRect/>
          <a:stretch/>
        </p:blipFill>
        <p:spPr>
          <a:xfrm>
            <a:off x="8686800" y="4341713"/>
            <a:ext cx="355600" cy="203200"/>
          </a:xfrm>
          <a:prstGeom prst="rect">
            <a:avLst/>
          </a:prstGeom>
        </p:spPr>
      </p:pic>
      <p:sp>
        <p:nvSpPr>
          <p:cNvPr id="32" name="Shape 24"/>
          <p:cNvSpPr/>
          <p:nvPr/>
        </p:nvSpPr>
        <p:spPr>
          <a:xfrm>
            <a:off x="9124950" y="3790652"/>
            <a:ext cx="2247900" cy="1305322"/>
          </a:xfrm>
          <a:prstGeom prst="roundRect">
            <a:avLst>
              <a:gd name="adj" fmla="val 7297"/>
            </a:avLst>
          </a:prstGeom>
          <a:solidFill>
            <a:srgbClr val="D5EBEE"/>
          </a:solidFill>
          <a:ln w="12700">
            <a:solidFill>
              <a:srgbClr val="0B7285"/>
            </a:solidFill>
            <a:prstDash val="solid"/>
          </a:ln>
        </p:spPr>
        <p:txBody>
          <a:bodyPr/>
          <a:lstStyle/>
          <a:p>
            <a:endParaRPr lang="es-GT"/>
          </a:p>
        </p:txBody>
      </p:sp>
      <p:sp>
        <p:nvSpPr>
          <p:cNvPr id="33" name="Text 25"/>
          <p:cNvSpPr/>
          <p:nvPr/>
        </p:nvSpPr>
        <p:spPr>
          <a:xfrm>
            <a:off x="9283700" y="3949402"/>
            <a:ext cx="19883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Sin SMTP</a:t>
            </a:r>
            <a:endParaRPr lang="en-US" sz="1600" dirty="0"/>
          </a:p>
        </p:txBody>
      </p:sp>
      <p:sp>
        <p:nvSpPr>
          <p:cNvPr id="34" name="Text 26"/>
          <p:cNvSpPr/>
          <p:nvPr/>
        </p:nvSpPr>
        <p:spPr>
          <a:xfrm>
            <a:off x="9283700" y="4243983"/>
            <a:ext cx="1988312"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El archivo queda guardado en local, sin envío.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Arial" pitchFamily="34" charset="0"/>
                <a:ea typeface="Arial" pitchFamily="34" charset="-122"/>
                <a:cs typeface="Arial" pitchFamily="34" charset="-120"/>
              </a:rPr>
              <a:t>Demostración en vivo</a:t>
            </a:r>
            <a:endParaRPr lang="en-US" sz="3600" dirty="0"/>
          </a:p>
        </p:txBody>
      </p:sp>
      <p:sp>
        <p:nvSpPr>
          <p:cNvPr id="3" name="Text 1"/>
          <p:cNvSpPr/>
          <p:nvPr/>
        </p:nvSpPr>
        <p:spPr>
          <a:xfrm>
            <a:off x="812502" y="1620441"/>
            <a:ext cx="10876070" cy="2082800"/>
          </a:xfrm>
          <a:prstGeom prst="rect">
            <a:avLst/>
          </a:prstGeom>
          <a:noFill/>
          <a:ln/>
        </p:spPr>
        <p:txBody>
          <a:bodyPr wrap="square" lIns="0" tIns="0" rIns="0" bIns="0" rtlCol="0" anchor="t">
            <a:normAutofit/>
          </a:bodyPr>
          <a:lstStyle/>
          <a:p>
            <a:pPr marL="254298" indent="-254298" algn="l">
              <a:lnSpc>
                <a:spcPts val="2700"/>
              </a:lnSpc>
              <a:buSzPct val="100000"/>
              <a:buFontTx/>
              <a:buAutoNum type="arabicPeriod"/>
            </a:pPr>
            <a:r>
              <a:rPr lang="en-US" sz="1800" dirty="0">
                <a:solidFill>
                  <a:srgbClr val="F4F1EA"/>
                </a:solidFill>
                <a:latin typeface="Arial" pitchFamily="34" charset="0"/>
                <a:ea typeface="Arial" pitchFamily="34" charset="-122"/>
                <a:cs typeface="Arial" pitchFamily="34" charset="-120"/>
              </a:rPr>
              <a:t>Agregar el producto Control a Q150.00 con 5 unidades.</a:t>
            </a:r>
            <a:endParaRPr lang="en-US" sz="1800" dirty="0"/>
          </a:p>
          <a:p>
            <a:pPr marL="254298" indent="-254298" algn="l">
              <a:lnSpc>
                <a:spcPts val="2700"/>
              </a:lnSpc>
              <a:buSzPct val="100000"/>
              <a:buFontTx/>
              <a:buAutoNum type="arabicPeriod"/>
            </a:pPr>
            <a:r>
              <a:rPr lang="en-US" sz="1800" dirty="0">
                <a:solidFill>
                  <a:srgbClr val="F4F1EA"/>
                </a:solidFill>
                <a:latin typeface="Arial" pitchFamily="34" charset="0"/>
                <a:ea typeface="Arial" pitchFamily="34" charset="-122"/>
                <a:cs typeface="Arial" pitchFamily="34" charset="-120"/>
              </a:rPr>
              <a:t>Agregar el cliente Ana López, NIT 12345, Jalapa.</a:t>
            </a:r>
            <a:endParaRPr lang="en-US" sz="1800" dirty="0"/>
          </a:p>
          <a:p>
            <a:pPr marL="254298" indent="-254298" algn="l">
              <a:lnSpc>
                <a:spcPts val="2700"/>
              </a:lnSpc>
              <a:buSzPct val="100000"/>
              <a:buFontTx/>
              <a:buAutoNum type="arabicPeriod"/>
            </a:pPr>
            <a:r>
              <a:rPr lang="en-US" sz="1800" dirty="0">
                <a:solidFill>
                  <a:srgbClr val="F4F1EA"/>
                </a:solidFill>
                <a:latin typeface="Arial" pitchFamily="34" charset="0"/>
                <a:ea typeface="Arial" pitchFamily="34" charset="-122"/>
                <a:cs typeface="Arial" pitchFamily="34" charset="-120"/>
              </a:rPr>
              <a:t>Crear un pedido de 2 unidades: total Q300.00 y existencia 3.</a:t>
            </a:r>
            <a:endParaRPr lang="en-US" sz="1800" dirty="0"/>
          </a:p>
          <a:p>
            <a:pPr marL="254298" indent="-254298" algn="l">
              <a:lnSpc>
                <a:spcPts val="2700"/>
              </a:lnSpc>
              <a:buSzPct val="100000"/>
              <a:buFontTx/>
              <a:buAutoNum type="arabicPeriod"/>
            </a:pPr>
            <a:r>
              <a:rPr lang="en-US" sz="1800" dirty="0">
                <a:solidFill>
                  <a:srgbClr val="F4F1EA"/>
                </a:solidFill>
                <a:latin typeface="Arial" pitchFamily="34" charset="0"/>
                <a:ea typeface="Arial" pitchFamily="34" charset="-122"/>
                <a:cs typeface="Arial" pitchFamily="34" charset="-120"/>
              </a:rPr>
              <a:t>Ver los informes: Q300.00 por cliente y por producto.</a:t>
            </a:r>
            <a:endParaRPr lang="en-US" sz="1800" dirty="0"/>
          </a:p>
          <a:p>
            <a:pPr marL="254298" indent="-254298" algn="l">
              <a:lnSpc>
                <a:spcPts val="2700"/>
              </a:lnSpc>
              <a:buSzPct val="100000"/>
              <a:buFontTx/>
              <a:buAutoNum type="arabicPeriod"/>
            </a:pPr>
            <a:r>
              <a:rPr lang="en-US" sz="1800" dirty="0">
                <a:solidFill>
                  <a:srgbClr val="F4F1EA"/>
                </a:solidFill>
                <a:latin typeface="Arial" pitchFamily="34" charset="0"/>
                <a:ea typeface="Arial" pitchFamily="34" charset="-122"/>
                <a:cs typeface="Arial" pitchFamily="34" charset="-120"/>
              </a:rPr>
              <a:t>Eliminar el pedido: la existencia vuelve a 5.</a:t>
            </a:r>
            <a:endParaRPr lang="en-US" sz="1800" dirty="0"/>
          </a:p>
          <a:p>
            <a:pPr marL="254298" indent="-254298" algn="l">
              <a:lnSpc>
                <a:spcPts val="2700"/>
              </a:lnSpc>
              <a:buSzPct val="100000"/>
              <a:buFontTx/>
              <a:buAutoNum type="arabicPeriod"/>
            </a:pPr>
            <a:r>
              <a:rPr lang="en-US" sz="1800" dirty="0">
                <a:solidFill>
                  <a:srgbClr val="F4F1EA"/>
                </a:solidFill>
                <a:latin typeface="Arial" pitchFamily="34" charset="0"/>
                <a:ea typeface="Arial" pitchFamily="34" charset="-122"/>
                <a:cs typeface="Arial" pitchFamily="34" charset="-120"/>
              </a:rPr>
              <a:t>Generar la cotización y la copia de seguridad.</a:t>
            </a:r>
            <a:endParaRPr lang="en-US" sz="1800" dirty="0"/>
          </a:p>
        </p:txBody>
      </p:sp>
      <p:sp>
        <p:nvSpPr>
          <p:cNvPr id="4" name="Text 2"/>
          <p:cNvSpPr/>
          <p:nvPr/>
        </p:nvSpPr>
        <p:spPr>
          <a:xfrm>
            <a:off x="812800" y="3982641"/>
            <a:ext cx="10883392" cy="41652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F0A060"/>
                </a:solidFill>
                <a:latin typeface="Arial" pitchFamily="34" charset="0"/>
                <a:ea typeface="Arial" pitchFamily="34" charset="-122"/>
                <a:cs typeface="Arial" pitchFamily="34" charset="-120"/>
              </a:rPr>
              <a:t>Gracias. ¿Preguntas?</a:t>
            </a:r>
            <a:endParaRPr lang="en-US" sz="2200" dirty="0"/>
          </a:p>
        </p:txBody>
      </p:sp>
    </p:spTree>
  </p:cSld>
  <p:clrMapOvr>
    <a:masterClrMapping/>
  </p:clrMapOvr>
</p:sld>
</file>

<file path=ppt/theme/theme1.xml><?xml version="1.0" encoding="utf-8"?>
<a:theme xmlns:a="http://schemas.openxmlformats.org/drawingml/2006/main" name="Proyecto Final Algoritmos 2026">
  <a:themeElements>
    <a:clrScheme name="Proyecto Final Algoritmos 2026">
      <a:dk1>
        <a:srgbClr val="14213D"/>
      </a:dk1>
      <a:lt1>
        <a:srgbClr val="F6F5F0"/>
      </a:lt1>
      <a:dk2>
        <a:srgbClr val="4D566A"/>
      </a:dk2>
      <a:lt2>
        <a:srgbClr val="DFE0DE"/>
      </a:lt2>
      <a:accent1>
        <a:srgbClr val="0B7285"/>
      </a:accent1>
      <a:accent2>
        <a:srgbClr val="B4530F"/>
      </a:accent2>
      <a:accent3>
        <a:srgbClr val="F0A060"/>
      </a:accent3>
      <a:accent4>
        <a:srgbClr val="6FD0D6"/>
      </a:accent4>
      <a:accent5>
        <a:srgbClr val="4A5568"/>
      </a:accent5>
      <a:accent6>
        <a:srgbClr val="6A7179"/>
      </a:accent6>
      <a:hlink>
        <a:srgbClr val="0563C1"/>
      </a:hlink>
      <a:folHlink>
        <a:srgbClr val="954F72"/>
      </a:folHlink>
    </a:clrScheme>
    <a:fontScheme name="Proyecto Final Algoritmos 202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1190</Words>
  <Application>Microsoft Office PowerPoint</Application>
  <PresentationFormat>Panorámica</PresentationFormat>
  <Paragraphs>175</Paragraphs>
  <Slides>9</Slides>
  <Notes>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9</vt:i4>
      </vt:variant>
    </vt:vector>
  </HeadingPairs>
  <TitlesOfParts>
    <vt:vector size="12" baseType="lpstr">
      <vt:lpstr>Arial</vt:lpstr>
      <vt:lpstr>Courier New</vt:lpstr>
      <vt:lpstr>Proyecto Final Algoritmos 2026</vt:lpstr>
      <vt:lpstr>Sistema de inventario y ventas</vt:lpstr>
      <vt:lpstr>Objetivo del proyecto</vt:lpstr>
      <vt:lpstr>Menú principal</vt:lpstr>
      <vt:lpstr>Diagrama de arquitectura</vt:lpstr>
      <vt:lpstr>Diagrama de datos</vt:lpstr>
      <vt:lpstr>Diagrama de flujo: agregar pedido</vt:lpstr>
      <vt:lpstr>Diagrama de clases</vt:lpstr>
      <vt:lpstr>Cotización y copia de seguridad</vt:lpstr>
      <vt:lpstr>Demostración en vivo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Final Algoritmos 2026</dc:title>
  <dc:subject/>
  <dc:creator>Julio Escobar</dc:creator>
  <cp:lastModifiedBy>Julio Escobar</cp:lastModifiedBy>
  <cp:revision>3</cp:revision>
  <dcterms:created xsi:type="dcterms:W3CDTF">2026-10-23T20:53:48Z</dcterms:created>
  <dcterms:modified xsi:type="dcterms:W3CDTF">2026-10-25T02:17:17Z</dcterms:modified>
</cp:coreProperties>
</file>